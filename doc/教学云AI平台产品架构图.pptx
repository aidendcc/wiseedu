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b8bfc6a2cbd4839" /><Relationship Type="http://schemas.openxmlformats.org/package/2006/relationships/metadata/core-properties" Target="/docProps/core.xml" Id="R836564268d82461a" /><Relationship Type="http://schemas.openxmlformats.org/officeDocument/2006/relationships/extended-properties" Target="/docProps/app.xml" Id="Rfde4dd944f8c4694" /><Relationship Type="http://schemas.openxmlformats.org/officeDocument/2006/relationships/custom-properties" Target="/docProps/custom.xml" Id="R50515c0e752244e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2ee4de6c28c4ce6"/>
  </p:notesMasterIdLst>
  <p:sldIdLst>
    <p:sldId id="256" r:id="R11d814bad9dd4957"/>
    <p:sldId id="257" r:id="R8be1cade1446426c"/>
    <p:sldId id="258" r:id="Rf5d74ed4635a4b3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1d814bad9dd4957" /><Relationship Type="http://schemas.openxmlformats.org/officeDocument/2006/relationships/notesMaster" Target="/ppt/notesMasters/notesMaster1.xml" Id="R72ee4de6c28c4ce6" /><Relationship Type="http://schemas.openxmlformats.org/officeDocument/2006/relationships/slide" Target="/ppt/slides/slide2.xml" Id="R8be1cade1446426c" /><Relationship Type="http://schemas.openxmlformats.org/officeDocument/2006/relationships/slide" Target="/ppt/slides/slide3.xml" Id="Rf5d74ed4635a4b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d60246c7d1f47b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等线"/>
        <a:cs typeface=""/>
      </a:majorFont>
      <a:minorFont>
        <a:latin typeface="Microsoft YaHe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f6033d194ca449a" /><Relationship Type="http://schemas.openxmlformats.org/officeDocument/2006/relationships/slide" Target="/ppt/slides/slide1.xml" Id="R9eda5edeb5b2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e8fd5f07d89420e" /><Relationship Type="http://schemas.openxmlformats.org/officeDocument/2006/relationships/slide" Target="/ppt/slides/slide2.xml" Id="R85a0e18de7ae4f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62fd3cbb9f945ab" /><Relationship Type="http://schemas.openxmlformats.org/officeDocument/2006/relationships/slide" Target="/ppt/slides/slide3.xml" Id="Ree05c69bb45c48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这一页回答「产品用什么搭起来」。自下而上五层：基础设施层给部署与算力，数据底座层沉淀主数据、知识图谱、资源中心三样核心资产，通用能力层是中台——AI 网关、识别批改、排版引擎、审批流、权限与消息，业务层按端切成三条带：平台运营端是平台级、机构端是机构与校区级、家长学生端是班级师生级，越往上离用户越近。接入层要特别注意：家长端和学生端不再自建，走校管家 App、小程序、H5 的容器承载，只新增功能模块。最右侧那条带是安全与合规，它不是某一层的能力，而是从租户隔离到备份软删贯穿每一层，砍任何一条都是红线。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讲边界。左边是校管家，它是班级、学员、教师、排课的唯一来源，教学云只做只读镜像，绝不回写——主数据一旦双向写，出问题就查不清是谁改错的。中间是教学云本身，业务服务、能力网关、数据底座三层。右边是外围 AI 平台，大模型、识别、语音、内容安全、第三方排版，全部经 AI 网关出域，不允许业务代码直连供应商。左下角这个虚线框是本次最关键的一条：家长端和学生端不新建端，而是在校管家 App、小程序、H5 里新增功能模块，复用它的登录态、组织关系和消息推送，我们只提供接口和页面。底部四条是集成契约：主数据单向、内容学情回传带幂等、AI 统一出口、终端零新增安装。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讲数据怎么流。六段主链路：采集进来、解析成结构化、判归属过审核、入资源中心、被消费、学情回流。每张卡片底下那行小字是落库位置，开发可以直接对表。中间那条带是数据分层——原始文件、结构化资源、业务事实、分析指标，四层的可变性完全不同，原始文件只追加不可变，业务事实只增不改。左下是闭环回路，学情报告不是终点，它要驱动错题归集和推荐组卷，新资源回到采集段，这才是「教—学—评—改」闭合。右下四条硬约束是这次架构最不能让步的地方：归属即权限、引用留痕、回流只增、出域受控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c8c16884543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c1d3d4730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9dddca3e647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ae589901340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6c40c6c5f435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1bf39a457c846a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4e0a70d5d41e0" /><Relationship Type="http://schemas.openxmlformats.org/officeDocument/2006/relationships/notesSlide" Target="/ppt/notesSlides/notesSlide1.xml" Id="R26db7538f4bf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a5cb85fe54bc7" /><Relationship Type="http://schemas.openxmlformats.org/officeDocument/2006/relationships/notesSlide" Target="/ppt/notesSlides/notesSlide2.xml" Id="R454a25169d374d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ced8891d841a4" /><Relationship Type="http://schemas.openxmlformats.org/officeDocument/2006/relationships/notesSlide" Target="/ppt/notesSlides/notesSlide3.xml" Id="R1593eb49dbf342f8" /></Relationships>
</file>

<file path=ppt/slides/slide1.xml><?xml version="1.0" encoding="utf-8"?>
<p:sld xmlns:p="http://schemas.openxmlformats.org/presentationml/2006/main">
  <p:cSld name="产品架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H1Bar"/>
          <p:cNvSpPr/>
          <p:nvPr/>
        </p:nvSpPr>
        <p:spPr>
          <a:xfrm xmlns:a="http://schemas.openxmlformats.org/drawingml/2006/main">
            <a:off x="468000" y="309600"/>
            <a:ext cx="5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H1T"/>
          <p:cNvSpPr txBox="1"/>
          <p:nvPr/>
        </p:nvSpPr>
        <p:spPr>
          <a:xfrm xmlns:a="http://schemas.openxmlformats.org/drawingml/2006/main">
            <a:off x="612000" y="259200"/>
            <a:ext cx="1096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3100" b="1">
                <a:solidFill>
                  <a:srgbClr val="1B3A5C"/>
                </a:solidFill>
                <a:latin typeface="Microsoft YaHei"/>
                <a:ea typeface="Microsoft YaHei"/>
              </a:rPr>
              <a:t>产品架构：五层功能矩阵</a:t>
            </a:r>
          </a:p>
        </p:txBody>
      </p:sp>
      <p:sp>
        <p:nvSpPr>
          <p:cNvPr id="100002" name="H1S"/>
          <p:cNvSpPr txBox="1"/>
          <p:nvPr/>
        </p:nvSpPr>
        <p:spPr>
          <a:xfrm xmlns:a="http://schemas.openxmlformats.org/drawingml/2006/main">
            <a:off x="612000" y="813600"/>
            <a:ext cx="109692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6B8399"/>
                </a:solidFill>
                <a:latin typeface="Microsoft YaHei"/>
                <a:ea typeface="Microsoft YaHei"/>
              </a:rPr>
              <a:t>底层能力统一复用，业务按端分层，安全机制贯穿全栈；同一条业务主线在「平台级 → 机构·校区级 → 班级·师生级」逐级收敛</a:t>
            </a:r>
          </a:p>
        </p:txBody>
      </p:sp>
      <p:sp>
        <p:nvSpPr>
          <p:cNvPr id="100003" name="LBLL5"/>
          <p:cNvSpPr/>
          <p:nvPr/>
        </p:nvSpPr>
        <p:spPr>
          <a:xfrm xmlns:a="http://schemas.openxmlformats.org/drawingml/2006/main">
            <a:off x="468000" y="1152000"/>
            <a:ext cx="1278000" cy="4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83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LBNL5"/>
          <p:cNvSpPr txBox="1"/>
          <p:nvPr/>
        </p:nvSpPr>
        <p:spPr>
          <a:xfrm xmlns:a="http://schemas.openxmlformats.org/drawingml/2006/main">
            <a:off x="504000" y="11988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用户接入层</a:t>
            </a:r>
          </a:p>
        </p:txBody>
      </p:sp>
      <p:sp>
        <p:nvSpPr>
          <p:cNvPr id="100005" name="LBSL5"/>
          <p:cNvSpPr txBox="1"/>
          <p:nvPr/>
        </p:nvSpPr>
        <p:spPr>
          <a:xfrm xmlns:a="http://schemas.openxmlformats.org/drawingml/2006/main">
            <a:off x="504000" y="13968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多终端 · 多形态</a:t>
            </a:r>
          </a:p>
        </p:txBody>
      </p:sp>
      <p:sp>
        <p:nvSpPr>
          <p:cNvPr id="100006" name="LBLL4a"/>
          <p:cNvSpPr/>
          <p:nvPr/>
        </p:nvSpPr>
        <p:spPr>
          <a:xfrm xmlns:a="http://schemas.openxmlformats.org/drawingml/2006/main">
            <a:off x="468000" y="1760400"/>
            <a:ext cx="127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LBNL4a"/>
          <p:cNvSpPr txBox="1"/>
          <p:nvPr/>
        </p:nvSpPr>
        <p:spPr>
          <a:xfrm xmlns:a="http://schemas.openxmlformats.org/drawingml/2006/main">
            <a:off x="504000" y="18360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平台运营端</a:t>
            </a:r>
          </a:p>
        </p:txBody>
      </p:sp>
      <p:sp>
        <p:nvSpPr>
          <p:cNvPr id="100008" name="LBSL4a"/>
          <p:cNvSpPr txBox="1"/>
          <p:nvPr/>
        </p:nvSpPr>
        <p:spPr>
          <a:xfrm xmlns:a="http://schemas.openxmlformats.org/drawingml/2006/main">
            <a:off x="504000" y="20304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平台级</a:t>
            </a:r>
          </a:p>
        </p:txBody>
      </p:sp>
      <p:sp>
        <p:nvSpPr>
          <p:cNvPr id="100009" name="LBLL4b"/>
          <p:cNvSpPr/>
          <p:nvPr/>
        </p:nvSpPr>
        <p:spPr>
          <a:xfrm xmlns:a="http://schemas.openxmlformats.org/drawingml/2006/main">
            <a:off x="468000" y="2336400"/>
            <a:ext cx="1278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LBNL4b"/>
          <p:cNvSpPr txBox="1"/>
          <p:nvPr/>
        </p:nvSpPr>
        <p:spPr>
          <a:xfrm xmlns:a="http://schemas.openxmlformats.org/drawingml/2006/main">
            <a:off x="504000" y="25740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机构端</a:t>
            </a:r>
          </a:p>
        </p:txBody>
      </p:sp>
      <p:sp>
        <p:nvSpPr>
          <p:cNvPr id="100011" name="LBSL4b"/>
          <p:cNvSpPr txBox="1"/>
          <p:nvPr/>
        </p:nvSpPr>
        <p:spPr>
          <a:xfrm xmlns:a="http://schemas.openxmlformats.org/drawingml/2006/main">
            <a:off x="504000" y="27684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机构 · 校区级</a:t>
            </a:r>
          </a:p>
        </p:txBody>
      </p:sp>
      <p:sp>
        <p:nvSpPr>
          <p:cNvPr id="100012" name="LBLL4c"/>
          <p:cNvSpPr/>
          <p:nvPr/>
        </p:nvSpPr>
        <p:spPr>
          <a:xfrm xmlns:a="http://schemas.openxmlformats.org/drawingml/2006/main">
            <a:off x="468000" y="3236400"/>
            <a:ext cx="127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LBNL4c"/>
          <p:cNvSpPr txBox="1"/>
          <p:nvPr/>
        </p:nvSpPr>
        <p:spPr>
          <a:xfrm xmlns:a="http://schemas.openxmlformats.org/drawingml/2006/main">
            <a:off x="504000" y="33120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家长 · 学生端</a:t>
            </a:r>
          </a:p>
        </p:txBody>
      </p:sp>
      <p:sp>
        <p:nvSpPr>
          <p:cNvPr id="100014" name="LBSL4c"/>
          <p:cNvSpPr txBox="1"/>
          <p:nvPr/>
        </p:nvSpPr>
        <p:spPr>
          <a:xfrm xmlns:a="http://schemas.openxmlformats.org/drawingml/2006/main">
            <a:off x="504000" y="35064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班级 · 师生级</a:t>
            </a:r>
          </a:p>
        </p:txBody>
      </p:sp>
      <p:sp>
        <p:nvSpPr>
          <p:cNvPr id="100015" name="LBLL3"/>
          <p:cNvSpPr/>
          <p:nvPr/>
        </p:nvSpPr>
        <p:spPr>
          <a:xfrm xmlns:a="http://schemas.openxmlformats.org/drawingml/2006/main">
            <a:off x="468000" y="3898800"/>
            <a:ext cx="1278000" cy="7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LBNL3"/>
          <p:cNvSpPr txBox="1"/>
          <p:nvPr/>
        </p:nvSpPr>
        <p:spPr>
          <a:xfrm xmlns:a="http://schemas.openxmlformats.org/drawingml/2006/main">
            <a:off x="504000" y="40752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通用能力层</a:t>
            </a:r>
          </a:p>
        </p:txBody>
      </p:sp>
      <p:sp>
        <p:nvSpPr>
          <p:cNvPr id="100017" name="LBSL3"/>
          <p:cNvSpPr txBox="1"/>
          <p:nvPr/>
        </p:nvSpPr>
        <p:spPr>
          <a:xfrm xmlns:a="http://schemas.openxmlformats.org/drawingml/2006/main">
            <a:off x="504000" y="42696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中台 · 跨端复用</a:t>
            </a:r>
          </a:p>
        </p:txBody>
      </p:sp>
      <p:sp>
        <p:nvSpPr>
          <p:cNvPr id="100018" name="LBLL2"/>
          <p:cNvSpPr/>
          <p:nvPr/>
        </p:nvSpPr>
        <p:spPr>
          <a:xfrm xmlns:a="http://schemas.openxmlformats.org/drawingml/2006/main">
            <a:off x="468000" y="4759200"/>
            <a:ext cx="1278000" cy="5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LBNL2"/>
          <p:cNvSpPr txBox="1"/>
          <p:nvPr/>
        </p:nvSpPr>
        <p:spPr>
          <a:xfrm xmlns:a="http://schemas.openxmlformats.org/drawingml/2006/main">
            <a:off x="504000" y="48600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数据底座层</a:t>
            </a:r>
          </a:p>
        </p:txBody>
      </p:sp>
      <p:sp>
        <p:nvSpPr>
          <p:cNvPr id="100020" name="LBSL2"/>
          <p:cNvSpPr txBox="1"/>
          <p:nvPr/>
        </p:nvSpPr>
        <p:spPr>
          <a:xfrm xmlns:a="http://schemas.openxmlformats.org/drawingml/2006/main">
            <a:off x="504000" y="50544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主数据 · 资源</a:t>
            </a:r>
          </a:p>
        </p:txBody>
      </p:sp>
      <p:sp>
        <p:nvSpPr>
          <p:cNvPr id="100021" name="LBLL1"/>
          <p:cNvSpPr/>
          <p:nvPr/>
        </p:nvSpPr>
        <p:spPr>
          <a:xfrm xmlns:a="http://schemas.openxmlformats.org/drawingml/2006/main">
            <a:off x="468000" y="5475600"/>
            <a:ext cx="1278000" cy="48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C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LBNL1"/>
          <p:cNvSpPr txBox="1"/>
          <p:nvPr/>
        </p:nvSpPr>
        <p:spPr>
          <a:xfrm xmlns:a="http://schemas.openxmlformats.org/drawingml/2006/main">
            <a:off x="504000" y="55224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基础设施层</a:t>
            </a:r>
          </a:p>
        </p:txBody>
      </p:sp>
      <p:sp>
        <p:nvSpPr>
          <p:cNvPr id="100023" name="LBSL1"/>
          <p:cNvSpPr txBox="1"/>
          <p:nvPr/>
        </p:nvSpPr>
        <p:spPr>
          <a:xfrm xmlns:a="http://schemas.openxmlformats.org/drawingml/2006/main">
            <a:off x="504000" y="57168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部署 · 存储 · 算力</a:t>
            </a:r>
          </a:p>
        </p:txBody>
      </p:sp>
      <p:sp>
        <p:nvSpPr>
          <p:cNvPr id="100024" name="L5C0"/>
          <p:cNvSpPr/>
          <p:nvPr/>
        </p:nvSpPr>
        <p:spPr>
          <a:xfrm xmlns:a="http://schemas.openxmlformats.org/drawingml/2006/main">
            <a:off x="18540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L5N0"/>
          <p:cNvSpPr txBox="1"/>
          <p:nvPr/>
        </p:nvSpPr>
        <p:spPr>
          <a:xfrm xmlns:a="http://schemas.openxmlformats.org/drawingml/2006/main">
            <a:off x="18828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教师 / 教务 Web</a:t>
            </a:r>
          </a:p>
        </p:txBody>
      </p:sp>
      <p:sp>
        <p:nvSpPr>
          <p:cNvPr id="100026" name="L5S0"/>
          <p:cNvSpPr txBox="1"/>
          <p:nvPr/>
        </p:nvSpPr>
        <p:spPr>
          <a:xfrm xmlns:a="http://schemas.openxmlformats.org/drawingml/2006/main">
            <a:off x="18828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PC 浏览器 · 全功能</a:t>
            </a:r>
          </a:p>
        </p:txBody>
      </p:sp>
      <p:sp>
        <p:nvSpPr>
          <p:cNvPr id="100027" name="L5C1"/>
          <p:cNvSpPr/>
          <p:nvPr/>
        </p:nvSpPr>
        <p:spPr>
          <a:xfrm xmlns:a="http://schemas.openxmlformats.org/drawingml/2006/main">
            <a:off x="35496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L5N1"/>
          <p:cNvSpPr txBox="1"/>
          <p:nvPr/>
        </p:nvSpPr>
        <p:spPr>
          <a:xfrm xmlns:a="http://schemas.openxmlformats.org/drawingml/2006/main">
            <a:off x="35784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校管家 App</a:t>
            </a:r>
          </a:p>
        </p:txBody>
      </p:sp>
      <p:sp>
        <p:nvSpPr>
          <p:cNvPr id="100029" name="L5S1"/>
          <p:cNvSpPr txBox="1"/>
          <p:nvPr/>
        </p:nvSpPr>
        <p:spPr>
          <a:xfrm xmlns:a="http://schemas.openxmlformats.org/drawingml/2006/main">
            <a:off x="35784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家长 / 学生 模块入口</a:t>
            </a:r>
          </a:p>
        </p:txBody>
      </p:sp>
      <p:sp>
        <p:nvSpPr>
          <p:cNvPr id="100030" name="L5C2"/>
          <p:cNvSpPr/>
          <p:nvPr/>
        </p:nvSpPr>
        <p:spPr>
          <a:xfrm xmlns:a="http://schemas.openxmlformats.org/drawingml/2006/main">
            <a:off x="52452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L5N2"/>
          <p:cNvSpPr txBox="1"/>
          <p:nvPr/>
        </p:nvSpPr>
        <p:spPr>
          <a:xfrm xmlns:a="http://schemas.openxmlformats.org/drawingml/2006/main">
            <a:off x="52740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小程序 / H5</a:t>
            </a:r>
          </a:p>
        </p:txBody>
      </p:sp>
      <p:sp>
        <p:nvSpPr>
          <p:cNvPr id="100032" name="L5S2"/>
          <p:cNvSpPr txBox="1"/>
          <p:nvPr/>
        </p:nvSpPr>
        <p:spPr>
          <a:xfrm xmlns:a="http://schemas.openxmlformats.org/drawingml/2006/main">
            <a:off x="52740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轻量查看与提交</a:t>
            </a:r>
          </a:p>
        </p:txBody>
      </p:sp>
      <p:sp>
        <p:nvSpPr>
          <p:cNvPr id="100033" name="L5C3"/>
          <p:cNvSpPr/>
          <p:nvPr/>
        </p:nvSpPr>
        <p:spPr>
          <a:xfrm xmlns:a="http://schemas.openxmlformats.org/drawingml/2006/main">
            <a:off x="69408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L5N3"/>
          <p:cNvSpPr txBox="1"/>
          <p:nvPr/>
        </p:nvSpPr>
        <p:spPr>
          <a:xfrm xmlns:a="http://schemas.openxmlformats.org/drawingml/2006/main">
            <a:off x="69696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扫描与拍摄设备</a:t>
            </a:r>
          </a:p>
        </p:txBody>
      </p:sp>
      <p:sp>
        <p:nvSpPr>
          <p:cNvPr id="100035" name="L5S3"/>
          <p:cNvSpPr txBox="1"/>
          <p:nvPr/>
        </p:nvSpPr>
        <p:spPr>
          <a:xfrm xmlns:a="http://schemas.openxmlformats.org/drawingml/2006/main">
            <a:off x="69696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原卷 · 答题卡 · 作业</a:t>
            </a:r>
          </a:p>
        </p:txBody>
      </p:sp>
      <p:sp>
        <p:nvSpPr>
          <p:cNvPr id="100036" name="L5C4"/>
          <p:cNvSpPr/>
          <p:nvPr/>
        </p:nvSpPr>
        <p:spPr>
          <a:xfrm xmlns:a="http://schemas.openxmlformats.org/drawingml/2006/main">
            <a:off x="86364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L5N4"/>
          <p:cNvSpPr txBox="1"/>
          <p:nvPr/>
        </p:nvSpPr>
        <p:spPr>
          <a:xfrm xmlns:a="http://schemas.openxmlformats.org/drawingml/2006/main">
            <a:off x="86652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打印 · 导出 · 开放接口</a:t>
            </a:r>
          </a:p>
        </p:txBody>
      </p:sp>
      <p:sp>
        <p:nvSpPr>
          <p:cNvPr id="100038" name="L5S4"/>
          <p:cNvSpPr txBox="1"/>
          <p:nvPr/>
        </p:nvSpPr>
        <p:spPr>
          <a:xfrm xmlns:a="http://schemas.openxmlformats.org/drawingml/2006/main">
            <a:off x="86652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出图 · API · Webhook</a:t>
            </a:r>
          </a:p>
        </p:txBody>
      </p:sp>
      <p:sp>
        <p:nvSpPr>
          <p:cNvPr id="100039" name="L4aC0"/>
          <p:cNvSpPr/>
          <p:nvPr/>
        </p:nvSpPr>
        <p:spPr>
          <a:xfrm xmlns:a="http://schemas.openxmlformats.org/drawingml/2006/main">
            <a:off x="18540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0" name="L4aV0"/>
          <p:cNvSpPr txBox="1"/>
          <p:nvPr/>
        </p:nvSpPr>
        <p:spPr>
          <a:xfrm xmlns:a="http://schemas.openxmlformats.org/drawingml/2006/main">
            <a:off x="18756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租户与套餐</a:t>
            </a:r>
          </a:p>
        </p:txBody>
      </p:sp>
      <p:sp>
        <p:nvSpPr>
          <p:cNvPr id="100041" name="L4aC1"/>
          <p:cNvSpPr/>
          <p:nvPr/>
        </p:nvSpPr>
        <p:spPr>
          <a:xfrm xmlns:a="http://schemas.openxmlformats.org/drawingml/2006/main">
            <a:off x="29124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L4aV1"/>
          <p:cNvSpPr txBox="1"/>
          <p:nvPr/>
        </p:nvSpPr>
        <p:spPr>
          <a:xfrm xmlns:a="http://schemas.openxmlformats.org/drawingml/2006/main">
            <a:off x="29340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内容运营</a:t>
            </a:r>
          </a:p>
        </p:txBody>
      </p:sp>
      <p:sp>
        <p:nvSpPr>
          <p:cNvPr id="100043" name="L4aC2"/>
          <p:cNvSpPr/>
          <p:nvPr/>
        </p:nvSpPr>
        <p:spPr>
          <a:xfrm xmlns:a="http://schemas.openxmlformats.org/drawingml/2006/main">
            <a:off x="39744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L4aV2"/>
          <p:cNvSpPr txBox="1"/>
          <p:nvPr/>
        </p:nvSpPr>
        <p:spPr>
          <a:xfrm xmlns:a="http://schemas.openxmlformats.org/drawingml/2006/main">
            <a:off x="39960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AI 服务配置</a:t>
            </a:r>
          </a:p>
        </p:txBody>
      </p:sp>
      <p:sp>
        <p:nvSpPr>
          <p:cNvPr id="100045" name="L4aC3"/>
          <p:cNvSpPr/>
          <p:nvPr/>
        </p:nvSpPr>
        <p:spPr>
          <a:xfrm xmlns:a="http://schemas.openxmlformats.org/drawingml/2006/main">
            <a:off x="50328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L4aV3"/>
          <p:cNvSpPr txBox="1"/>
          <p:nvPr/>
        </p:nvSpPr>
        <p:spPr>
          <a:xfrm xmlns:a="http://schemas.openxmlformats.org/drawingml/2006/main">
            <a:off x="50544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账号与权限</a:t>
            </a:r>
          </a:p>
        </p:txBody>
      </p:sp>
      <p:sp>
        <p:nvSpPr>
          <p:cNvPr id="100047" name="L4aC4"/>
          <p:cNvSpPr/>
          <p:nvPr/>
        </p:nvSpPr>
        <p:spPr>
          <a:xfrm xmlns:a="http://schemas.openxmlformats.org/drawingml/2006/main">
            <a:off x="60948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L4aV4"/>
          <p:cNvSpPr txBox="1"/>
          <p:nvPr/>
        </p:nvSpPr>
        <p:spPr>
          <a:xfrm xmlns:a="http://schemas.openxmlformats.org/drawingml/2006/main">
            <a:off x="61164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全局字典</a:t>
            </a:r>
          </a:p>
        </p:txBody>
      </p:sp>
      <p:sp>
        <p:nvSpPr>
          <p:cNvPr id="100049" name="L4aC5"/>
          <p:cNvSpPr/>
          <p:nvPr/>
        </p:nvSpPr>
        <p:spPr>
          <a:xfrm xmlns:a="http://schemas.openxmlformats.org/drawingml/2006/main">
            <a:off x="71532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L4aV5"/>
          <p:cNvSpPr txBox="1"/>
          <p:nvPr/>
        </p:nvSpPr>
        <p:spPr>
          <a:xfrm xmlns:a="http://schemas.openxmlformats.org/drawingml/2006/main">
            <a:off x="71748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知识图谱</a:t>
            </a:r>
          </a:p>
        </p:txBody>
      </p:sp>
      <p:sp>
        <p:nvSpPr>
          <p:cNvPr id="100051" name="L4aC6"/>
          <p:cNvSpPr/>
          <p:nvPr/>
        </p:nvSpPr>
        <p:spPr>
          <a:xfrm xmlns:a="http://schemas.openxmlformats.org/drawingml/2006/main">
            <a:off x="82116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L4aV6"/>
          <p:cNvSpPr txBox="1"/>
          <p:nvPr/>
        </p:nvSpPr>
        <p:spPr>
          <a:xfrm xmlns:a="http://schemas.openxmlformats.org/drawingml/2006/main">
            <a:off x="82332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数据审计</a:t>
            </a:r>
          </a:p>
        </p:txBody>
      </p:sp>
      <p:sp>
        <p:nvSpPr>
          <p:cNvPr id="100053" name="L4aC7"/>
          <p:cNvSpPr/>
          <p:nvPr/>
        </p:nvSpPr>
        <p:spPr>
          <a:xfrm xmlns:a="http://schemas.openxmlformats.org/drawingml/2006/main">
            <a:off x="92736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L4aV7"/>
          <p:cNvSpPr txBox="1"/>
          <p:nvPr/>
        </p:nvSpPr>
        <p:spPr>
          <a:xfrm xmlns:a="http://schemas.openxmlformats.org/drawingml/2006/main">
            <a:off x="92952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运营看板</a:t>
            </a:r>
          </a:p>
        </p:txBody>
      </p:sp>
      <p:sp>
        <p:nvSpPr>
          <p:cNvPr id="100055" name="L4bC0"/>
          <p:cNvSpPr/>
          <p:nvPr/>
        </p:nvSpPr>
        <p:spPr>
          <a:xfrm xmlns:a="http://schemas.openxmlformats.org/drawingml/2006/main">
            <a:off x="18540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L4bV0"/>
          <p:cNvSpPr txBox="1"/>
          <p:nvPr/>
        </p:nvSpPr>
        <p:spPr>
          <a:xfrm xmlns:a="http://schemas.openxmlformats.org/drawingml/2006/main">
            <a:off x="18756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题目管理</a:t>
            </a:r>
          </a:p>
        </p:txBody>
      </p:sp>
      <p:sp>
        <p:nvSpPr>
          <p:cNvPr id="100057" name="L4bC1"/>
          <p:cNvSpPr/>
          <p:nvPr/>
        </p:nvSpPr>
        <p:spPr>
          <a:xfrm xmlns:a="http://schemas.openxmlformats.org/drawingml/2006/main">
            <a:off x="30636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L4bV1"/>
          <p:cNvSpPr txBox="1"/>
          <p:nvPr/>
        </p:nvSpPr>
        <p:spPr>
          <a:xfrm xmlns:a="http://schemas.openxmlformats.org/drawingml/2006/main">
            <a:off x="30852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试卷管理</a:t>
            </a:r>
          </a:p>
        </p:txBody>
      </p:sp>
      <p:sp>
        <p:nvSpPr>
          <p:cNvPr id="100059" name="L4bC2"/>
          <p:cNvSpPr/>
          <p:nvPr/>
        </p:nvSpPr>
        <p:spPr>
          <a:xfrm xmlns:a="http://schemas.openxmlformats.org/drawingml/2006/main">
            <a:off x="42768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0" name="L4bV2"/>
          <p:cNvSpPr txBox="1"/>
          <p:nvPr/>
        </p:nvSpPr>
        <p:spPr>
          <a:xfrm xmlns:a="http://schemas.openxmlformats.org/drawingml/2006/main">
            <a:off x="42984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备课中心</a:t>
            </a:r>
          </a:p>
        </p:txBody>
      </p:sp>
      <p:sp>
        <p:nvSpPr>
          <p:cNvPr id="100061" name="L4bC3"/>
          <p:cNvSpPr/>
          <p:nvPr/>
        </p:nvSpPr>
        <p:spPr>
          <a:xfrm xmlns:a="http://schemas.openxmlformats.org/drawingml/2006/main">
            <a:off x="54864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L4bV3"/>
          <p:cNvSpPr txBox="1"/>
          <p:nvPr/>
        </p:nvSpPr>
        <p:spPr>
          <a:xfrm xmlns:a="http://schemas.openxmlformats.org/drawingml/2006/main">
            <a:off x="55080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考试阅卷</a:t>
            </a:r>
          </a:p>
        </p:txBody>
      </p:sp>
      <p:sp>
        <p:nvSpPr>
          <p:cNvPr id="100063" name="L4bC4"/>
          <p:cNvSpPr/>
          <p:nvPr/>
        </p:nvSpPr>
        <p:spPr>
          <a:xfrm xmlns:a="http://schemas.openxmlformats.org/drawingml/2006/main">
            <a:off x="66996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4" name="L4bV4"/>
          <p:cNvSpPr txBox="1"/>
          <p:nvPr/>
        </p:nvSpPr>
        <p:spPr>
          <a:xfrm xmlns:a="http://schemas.openxmlformats.org/drawingml/2006/main">
            <a:off x="67212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作业系统</a:t>
            </a:r>
          </a:p>
        </p:txBody>
      </p:sp>
      <p:sp>
        <p:nvSpPr>
          <p:cNvPr id="100065" name="L4bC5"/>
          <p:cNvSpPr/>
          <p:nvPr/>
        </p:nvSpPr>
        <p:spPr>
          <a:xfrm xmlns:a="http://schemas.openxmlformats.org/drawingml/2006/main">
            <a:off x="79092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L4bV5"/>
          <p:cNvSpPr txBox="1"/>
          <p:nvPr/>
        </p:nvSpPr>
        <p:spPr>
          <a:xfrm xmlns:a="http://schemas.openxmlformats.org/drawingml/2006/main">
            <a:off x="79308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班级学生</a:t>
            </a:r>
          </a:p>
        </p:txBody>
      </p:sp>
      <p:sp>
        <p:nvSpPr>
          <p:cNvPr id="100067" name="L4bC6"/>
          <p:cNvSpPr/>
          <p:nvPr/>
        </p:nvSpPr>
        <p:spPr>
          <a:xfrm xmlns:a="http://schemas.openxmlformats.org/drawingml/2006/main">
            <a:off x="91224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8" name="L4bV6"/>
          <p:cNvSpPr txBox="1"/>
          <p:nvPr/>
        </p:nvSpPr>
        <p:spPr>
          <a:xfrm xmlns:a="http://schemas.openxmlformats.org/drawingml/2006/main">
            <a:off x="91440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校本资源</a:t>
            </a:r>
          </a:p>
        </p:txBody>
      </p:sp>
      <p:sp>
        <p:nvSpPr>
          <p:cNvPr id="100069" name="L4bC7"/>
          <p:cNvSpPr/>
          <p:nvPr/>
        </p:nvSpPr>
        <p:spPr>
          <a:xfrm xmlns:a="http://schemas.openxmlformats.org/drawingml/2006/main">
            <a:off x="18540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L4bV7"/>
          <p:cNvSpPr txBox="1"/>
          <p:nvPr/>
        </p:nvSpPr>
        <p:spPr>
          <a:xfrm xmlns:a="http://schemas.openxmlformats.org/drawingml/2006/main">
            <a:off x="18756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审批管理</a:t>
            </a:r>
          </a:p>
        </p:txBody>
      </p:sp>
      <p:sp>
        <p:nvSpPr>
          <p:cNvPr id="100071" name="L4bC8"/>
          <p:cNvSpPr/>
          <p:nvPr/>
        </p:nvSpPr>
        <p:spPr>
          <a:xfrm xmlns:a="http://schemas.openxmlformats.org/drawingml/2006/main">
            <a:off x="30636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L4bV8"/>
          <p:cNvSpPr txBox="1"/>
          <p:nvPr/>
        </p:nvSpPr>
        <p:spPr>
          <a:xfrm xmlns:a="http://schemas.openxmlformats.org/drawingml/2006/main">
            <a:off x="30852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教辅管理</a:t>
            </a:r>
          </a:p>
        </p:txBody>
      </p:sp>
      <p:sp>
        <p:nvSpPr>
          <p:cNvPr id="100073" name="L4bC9"/>
          <p:cNvSpPr/>
          <p:nvPr/>
        </p:nvSpPr>
        <p:spPr>
          <a:xfrm xmlns:a="http://schemas.openxmlformats.org/drawingml/2006/main">
            <a:off x="42768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4" name="L4bV9"/>
          <p:cNvSpPr txBox="1"/>
          <p:nvPr/>
        </p:nvSpPr>
        <p:spPr>
          <a:xfrm xmlns:a="http://schemas.openxmlformats.org/drawingml/2006/main">
            <a:off x="42984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公式中心</a:t>
            </a:r>
          </a:p>
        </p:txBody>
      </p:sp>
      <p:sp>
        <p:nvSpPr>
          <p:cNvPr id="100075" name="L4bC10"/>
          <p:cNvSpPr/>
          <p:nvPr/>
        </p:nvSpPr>
        <p:spPr>
          <a:xfrm xmlns:a="http://schemas.openxmlformats.org/drawingml/2006/main">
            <a:off x="54864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6" name="L4bV10"/>
          <p:cNvSpPr txBox="1"/>
          <p:nvPr/>
        </p:nvSpPr>
        <p:spPr>
          <a:xfrm xmlns:a="http://schemas.openxmlformats.org/drawingml/2006/main">
            <a:off x="55080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知识广场</a:t>
            </a:r>
          </a:p>
        </p:txBody>
      </p:sp>
      <p:sp>
        <p:nvSpPr>
          <p:cNvPr id="100077" name="L4bC11"/>
          <p:cNvSpPr/>
          <p:nvPr/>
        </p:nvSpPr>
        <p:spPr>
          <a:xfrm xmlns:a="http://schemas.openxmlformats.org/drawingml/2006/main">
            <a:off x="66996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L4bV11"/>
          <p:cNvSpPr txBox="1"/>
          <p:nvPr/>
        </p:nvSpPr>
        <p:spPr>
          <a:xfrm xmlns:a="http://schemas.openxmlformats.org/drawingml/2006/main">
            <a:off x="67212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学情分析</a:t>
            </a:r>
          </a:p>
        </p:txBody>
      </p:sp>
      <p:sp>
        <p:nvSpPr>
          <p:cNvPr id="100079" name="L4bC12"/>
          <p:cNvSpPr/>
          <p:nvPr/>
        </p:nvSpPr>
        <p:spPr>
          <a:xfrm xmlns:a="http://schemas.openxmlformats.org/drawingml/2006/main">
            <a:off x="79092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L4bV12"/>
          <p:cNvSpPr txBox="1"/>
          <p:nvPr/>
        </p:nvSpPr>
        <p:spPr>
          <a:xfrm xmlns:a="http://schemas.openxmlformats.org/drawingml/2006/main">
            <a:off x="79308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机构设置</a:t>
            </a:r>
          </a:p>
        </p:txBody>
      </p:sp>
      <p:sp>
        <p:nvSpPr>
          <p:cNvPr id="100081" name="L4bC13"/>
          <p:cNvSpPr/>
          <p:nvPr/>
        </p:nvSpPr>
        <p:spPr>
          <a:xfrm xmlns:a="http://schemas.openxmlformats.org/drawingml/2006/main">
            <a:off x="91224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2" name="L4bV13"/>
          <p:cNvSpPr txBox="1"/>
          <p:nvPr/>
        </p:nvSpPr>
        <p:spPr>
          <a:xfrm xmlns:a="http://schemas.openxmlformats.org/drawingml/2006/main">
            <a:off x="91440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AI 能力</a:t>
            </a:r>
          </a:p>
        </p:txBody>
      </p:sp>
      <p:sp>
        <p:nvSpPr>
          <p:cNvPr id="100083" name="L4cC0"/>
          <p:cNvSpPr/>
          <p:nvPr/>
        </p:nvSpPr>
        <p:spPr>
          <a:xfrm xmlns:a="http://schemas.openxmlformats.org/drawingml/2006/main">
            <a:off x="1854000" y="3326400"/>
            <a:ext cx="13428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L4cV0"/>
          <p:cNvSpPr txBox="1"/>
          <p:nvPr/>
        </p:nvSpPr>
        <p:spPr>
          <a:xfrm xmlns:a="http://schemas.openxmlformats.org/drawingml/2006/main">
            <a:off x="1875600" y="3326400"/>
            <a:ext cx="129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试卷查看</a:t>
            </a:r>
          </a:p>
        </p:txBody>
      </p:sp>
      <p:sp>
        <p:nvSpPr>
          <p:cNvPr id="100085" name="L4cC1"/>
          <p:cNvSpPr/>
          <p:nvPr/>
        </p:nvSpPr>
        <p:spPr>
          <a:xfrm xmlns:a="http://schemas.openxmlformats.org/drawingml/2006/main">
            <a:off x="3268800" y="3326400"/>
            <a:ext cx="13428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L4cV1"/>
          <p:cNvSpPr txBox="1"/>
          <p:nvPr/>
        </p:nvSpPr>
        <p:spPr>
          <a:xfrm xmlns:a="http://schemas.openxmlformats.org/drawingml/2006/main">
            <a:off x="3290400" y="3326400"/>
            <a:ext cx="129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作业提交</a:t>
            </a:r>
          </a:p>
        </p:txBody>
      </p:sp>
      <p:sp>
        <p:nvSpPr>
          <p:cNvPr id="100087" name="L4cC2"/>
          <p:cNvSpPr/>
          <p:nvPr/>
        </p:nvSpPr>
        <p:spPr>
          <a:xfrm xmlns:a="http://schemas.openxmlformats.org/drawingml/2006/main">
            <a:off x="4680000" y="3326400"/>
            <a:ext cx="13428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8" name="L4cV2"/>
          <p:cNvSpPr txBox="1"/>
          <p:nvPr/>
        </p:nvSpPr>
        <p:spPr>
          <a:xfrm xmlns:a="http://schemas.openxmlformats.org/drawingml/2006/main">
            <a:off x="4701600" y="3326400"/>
            <a:ext cx="129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答卷扫描</a:t>
            </a:r>
          </a:p>
        </p:txBody>
      </p:sp>
      <p:sp>
        <p:nvSpPr>
          <p:cNvPr id="100089" name="L4cC3"/>
          <p:cNvSpPr/>
          <p:nvPr/>
        </p:nvSpPr>
        <p:spPr>
          <a:xfrm xmlns:a="http://schemas.openxmlformats.org/drawingml/2006/main">
            <a:off x="6094800" y="3326400"/>
            <a:ext cx="13428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0" name="L4cV3"/>
          <p:cNvSpPr txBox="1"/>
          <p:nvPr/>
        </p:nvSpPr>
        <p:spPr>
          <a:xfrm xmlns:a="http://schemas.openxmlformats.org/drawingml/2006/main">
            <a:off x="6112800" y="3326400"/>
            <a:ext cx="129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成绩与错题</a:t>
            </a:r>
          </a:p>
        </p:txBody>
      </p:sp>
      <p:sp>
        <p:nvSpPr>
          <p:cNvPr id="100091" name="L4cC4"/>
          <p:cNvSpPr/>
          <p:nvPr/>
        </p:nvSpPr>
        <p:spPr>
          <a:xfrm xmlns:a="http://schemas.openxmlformats.org/drawingml/2006/main">
            <a:off x="7506000" y="3326400"/>
            <a:ext cx="13428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2" name="L4cV4"/>
          <p:cNvSpPr txBox="1"/>
          <p:nvPr/>
        </p:nvSpPr>
        <p:spPr>
          <a:xfrm xmlns:a="http://schemas.openxmlformats.org/drawingml/2006/main">
            <a:off x="7527600" y="3326400"/>
            <a:ext cx="129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学情报告</a:t>
            </a:r>
          </a:p>
        </p:txBody>
      </p:sp>
      <p:sp>
        <p:nvSpPr>
          <p:cNvPr id="100093" name="L4cEmbed"/>
          <p:cNvSpPr/>
          <p:nvPr/>
        </p:nvSpPr>
        <p:spPr>
          <a:xfrm xmlns:a="http://schemas.openxmlformats.org/drawingml/2006/main">
            <a:off x="8917200" y="3326400"/>
            <a:ext cx="13428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C2762D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4" name="L4cEmbedT"/>
          <p:cNvSpPr txBox="1"/>
          <p:nvPr/>
        </p:nvSpPr>
        <p:spPr>
          <a:xfrm xmlns:a="http://schemas.openxmlformats.org/drawingml/2006/main">
            <a:off x="8956800" y="3362400"/>
            <a:ext cx="12672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C2762D"/>
                </a:solidFill>
                <a:latin typeface="Microsoft YaHei"/>
                <a:ea typeface="Microsoft YaHei"/>
              </a:rPr>
              <a:t>内嵌校管家</a:t>
            </a:r>
          </a:p>
        </p:txBody>
      </p:sp>
      <p:sp>
        <p:nvSpPr>
          <p:cNvPr id="100095" name="L4cEmbedS"/>
          <p:cNvSpPr txBox="1"/>
          <p:nvPr/>
        </p:nvSpPr>
        <p:spPr>
          <a:xfrm xmlns:a="http://schemas.openxmlformats.org/drawingml/2006/main">
            <a:off x="8956800" y="3517200"/>
            <a:ext cx="12672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不新建端 · 复用登录态</a:t>
            </a:r>
          </a:p>
        </p:txBody>
      </p:sp>
      <p:sp>
        <p:nvSpPr>
          <p:cNvPr id="100096" name="L3C0"/>
          <p:cNvSpPr/>
          <p:nvPr/>
        </p:nvSpPr>
        <p:spPr>
          <a:xfrm xmlns:a="http://schemas.openxmlformats.org/drawingml/2006/main">
            <a:off x="1854000" y="39168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L3N0"/>
          <p:cNvSpPr txBox="1"/>
          <p:nvPr/>
        </p:nvSpPr>
        <p:spPr>
          <a:xfrm xmlns:a="http://schemas.openxmlformats.org/drawingml/2006/main">
            <a:off x="1882800" y="39384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AI 能力网关</a:t>
            </a:r>
          </a:p>
        </p:txBody>
      </p:sp>
      <p:sp>
        <p:nvSpPr>
          <p:cNvPr id="100098" name="L3S0"/>
          <p:cNvSpPr txBox="1"/>
          <p:nvPr/>
        </p:nvSpPr>
        <p:spPr>
          <a:xfrm xmlns:a="http://schemas.openxmlformats.org/drawingml/2006/main">
            <a:off x="1882800" y="40932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模型路由 · 限流 · 计量</a:t>
            </a:r>
          </a:p>
        </p:txBody>
      </p:sp>
      <p:sp>
        <p:nvSpPr>
          <p:cNvPr id="100099" name="L3C1"/>
          <p:cNvSpPr/>
          <p:nvPr/>
        </p:nvSpPr>
        <p:spPr>
          <a:xfrm xmlns:a="http://schemas.openxmlformats.org/drawingml/2006/main">
            <a:off x="3978000" y="39168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L3N1"/>
          <p:cNvSpPr txBox="1"/>
          <p:nvPr/>
        </p:nvSpPr>
        <p:spPr>
          <a:xfrm xmlns:a="http://schemas.openxmlformats.org/drawingml/2006/main">
            <a:off x="4006800" y="39384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识别与批改引擎</a:t>
            </a:r>
          </a:p>
        </p:txBody>
      </p:sp>
      <p:sp>
        <p:nvSpPr>
          <p:cNvPr id="100101" name="L3S1"/>
          <p:cNvSpPr txBox="1"/>
          <p:nvPr/>
        </p:nvSpPr>
        <p:spPr>
          <a:xfrm xmlns:a="http://schemas.openxmlformats.org/drawingml/2006/main">
            <a:off x="4006800" y="40932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OCR · 手写 · 公式</a:t>
            </a:r>
          </a:p>
        </p:txBody>
      </p:sp>
      <p:sp>
        <p:nvSpPr>
          <p:cNvPr id="100102" name="L3C2"/>
          <p:cNvSpPr/>
          <p:nvPr/>
        </p:nvSpPr>
        <p:spPr>
          <a:xfrm xmlns:a="http://schemas.openxmlformats.org/drawingml/2006/main">
            <a:off x="6102000" y="39168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3" name="L3N2"/>
          <p:cNvSpPr txBox="1"/>
          <p:nvPr/>
        </p:nvSpPr>
        <p:spPr>
          <a:xfrm xmlns:a="http://schemas.openxmlformats.org/drawingml/2006/main">
            <a:off x="6127200" y="39384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文档排版引擎</a:t>
            </a:r>
          </a:p>
        </p:txBody>
      </p:sp>
      <p:sp>
        <p:nvSpPr>
          <p:cNvPr id="100104" name="L3S2"/>
          <p:cNvSpPr txBox="1"/>
          <p:nvPr/>
        </p:nvSpPr>
        <p:spPr>
          <a:xfrm xmlns:a="http://schemas.openxmlformats.org/drawingml/2006/main">
            <a:off x="6127200" y="40932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切题 · Word 兼容</a:t>
            </a:r>
          </a:p>
        </p:txBody>
      </p:sp>
      <p:sp>
        <p:nvSpPr>
          <p:cNvPr id="100105" name="L3C3"/>
          <p:cNvSpPr/>
          <p:nvPr/>
        </p:nvSpPr>
        <p:spPr>
          <a:xfrm xmlns:a="http://schemas.openxmlformats.org/drawingml/2006/main">
            <a:off x="8222400" y="39168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6" name="L3N3"/>
          <p:cNvSpPr txBox="1"/>
          <p:nvPr/>
        </p:nvSpPr>
        <p:spPr>
          <a:xfrm xmlns:a="http://schemas.openxmlformats.org/drawingml/2006/main">
            <a:off x="8251200" y="39384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工作流与审批</a:t>
            </a:r>
          </a:p>
        </p:txBody>
      </p:sp>
      <p:sp>
        <p:nvSpPr>
          <p:cNvPr id="100107" name="L3S3"/>
          <p:cNvSpPr txBox="1"/>
          <p:nvPr/>
        </p:nvSpPr>
        <p:spPr>
          <a:xfrm xmlns:a="http://schemas.openxmlformats.org/drawingml/2006/main">
            <a:off x="8251200" y="40932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提审单 · 双入口</a:t>
            </a:r>
          </a:p>
        </p:txBody>
      </p:sp>
      <p:sp>
        <p:nvSpPr>
          <p:cNvPr id="100108" name="L3C4"/>
          <p:cNvSpPr/>
          <p:nvPr/>
        </p:nvSpPr>
        <p:spPr>
          <a:xfrm xmlns:a="http://schemas.openxmlformats.org/drawingml/2006/main">
            <a:off x="1854000" y="42660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9" name="L3N4"/>
          <p:cNvSpPr txBox="1"/>
          <p:nvPr/>
        </p:nvSpPr>
        <p:spPr>
          <a:xfrm xmlns:a="http://schemas.openxmlformats.org/drawingml/2006/main">
            <a:off x="1882800" y="42876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权限中台</a:t>
            </a:r>
          </a:p>
        </p:txBody>
      </p:sp>
      <p:sp>
        <p:nvSpPr>
          <p:cNvPr id="100110" name="L3S4"/>
          <p:cNvSpPr txBox="1"/>
          <p:nvPr/>
        </p:nvSpPr>
        <p:spPr>
          <a:xfrm xmlns:a="http://schemas.openxmlformats.org/drawingml/2006/main">
            <a:off x="1882800" y="44424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角色 × 数据范围</a:t>
            </a:r>
          </a:p>
        </p:txBody>
      </p:sp>
      <p:sp>
        <p:nvSpPr>
          <p:cNvPr id="100111" name="L3C5"/>
          <p:cNvSpPr/>
          <p:nvPr/>
        </p:nvSpPr>
        <p:spPr>
          <a:xfrm xmlns:a="http://schemas.openxmlformats.org/drawingml/2006/main">
            <a:off x="3978000" y="42660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2" name="L3N5"/>
          <p:cNvSpPr txBox="1"/>
          <p:nvPr/>
        </p:nvSpPr>
        <p:spPr>
          <a:xfrm xmlns:a="http://schemas.openxmlformats.org/drawingml/2006/main">
            <a:off x="4006800" y="42876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消息与通知</a:t>
            </a:r>
          </a:p>
        </p:txBody>
      </p:sp>
      <p:sp>
        <p:nvSpPr>
          <p:cNvPr id="100113" name="L3S5"/>
          <p:cNvSpPr txBox="1"/>
          <p:nvPr/>
        </p:nvSpPr>
        <p:spPr>
          <a:xfrm xmlns:a="http://schemas.openxmlformats.org/drawingml/2006/main">
            <a:off x="4006800" y="44424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站内 · 短信 · 校管家</a:t>
            </a:r>
          </a:p>
        </p:txBody>
      </p:sp>
      <p:sp>
        <p:nvSpPr>
          <p:cNvPr id="100114" name="L3C6"/>
          <p:cNvSpPr/>
          <p:nvPr/>
        </p:nvSpPr>
        <p:spPr>
          <a:xfrm xmlns:a="http://schemas.openxmlformats.org/drawingml/2006/main">
            <a:off x="6102000" y="42660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5" name="L3N6"/>
          <p:cNvSpPr txBox="1"/>
          <p:nvPr/>
        </p:nvSpPr>
        <p:spPr>
          <a:xfrm xmlns:a="http://schemas.openxmlformats.org/drawingml/2006/main">
            <a:off x="6127200" y="42876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导入导出</a:t>
            </a:r>
          </a:p>
        </p:txBody>
      </p:sp>
      <p:sp>
        <p:nvSpPr>
          <p:cNvPr id="100116" name="L3S6"/>
          <p:cNvSpPr txBox="1"/>
          <p:nvPr/>
        </p:nvSpPr>
        <p:spPr>
          <a:xfrm xmlns:a="http://schemas.openxmlformats.org/drawingml/2006/main">
            <a:off x="6127200" y="44424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模板 · 校验 · 异步</a:t>
            </a:r>
          </a:p>
        </p:txBody>
      </p:sp>
      <p:sp>
        <p:nvSpPr>
          <p:cNvPr id="100117" name="L3C7"/>
          <p:cNvSpPr/>
          <p:nvPr/>
        </p:nvSpPr>
        <p:spPr>
          <a:xfrm xmlns:a="http://schemas.openxmlformats.org/drawingml/2006/main">
            <a:off x="8222400" y="42660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8" name="L3N7"/>
          <p:cNvSpPr txBox="1"/>
          <p:nvPr/>
        </p:nvSpPr>
        <p:spPr>
          <a:xfrm xmlns:a="http://schemas.openxmlformats.org/drawingml/2006/main">
            <a:off x="8251200" y="42876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任务与调度</a:t>
            </a:r>
          </a:p>
        </p:txBody>
      </p:sp>
      <p:sp>
        <p:nvSpPr>
          <p:cNvPr id="100119" name="L3S7"/>
          <p:cNvSpPr txBox="1"/>
          <p:nvPr/>
        </p:nvSpPr>
        <p:spPr>
          <a:xfrm xmlns:a="http://schemas.openxmlformats.org/drawingml/2006/main">
            <a:off x="8251200" y="44424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同步 · 对账 · 清理</a:t>
            </a:r>
          </a:p>
        </p:txBody>
      </p:sp>
      <p:sp>
        <p:nvSpPr>
          <p:cNvPr id="100120" name="L2C0"/>
          <p:cNvSpPr/>
          <p:nvPr/>
        </p:nvSpPr>
        <p:spPr>
          <a:xfrm xmlns:a="http://schemas.openxmlformats.org/drawingml/2006/main">
            <a:off x="18540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1" name="L2N0"/>
          <p:cNvSpPr txBox="1"/>
          <p:nvPr/>
        </p:nvSpPr>
        <p:spPr>
          <a:xfrm xmlns:a="http://schemas.openxmlformats.org/drawingml/2006/main">
            <a:off x="18828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主数据</a:t>
            </a:r>
          </a:p>
        </p:txBody>
      </p:sp>
      <p:sp>
        <p:nvSpPr>
          <p:cNvPr id="100122" name="L2S0"/>
          <p:cNvSpPr txBox="1"/>
          <p:nvPr/>
        </p:nvSpPr>
        <p:spPr>
          <a:xfrm xmlns:a="http://schemas.openxmlformats.org/drawingml/2006/main">
            <a:off x="18828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租户 · 组织 · 师生</a:t>
            </a:r>
          </a:p>
        </p:txBody>
      </p:sp>
      <p:sp>
        <p:nvSpPr>
          <p:cNvPr id="100123" name="L2C1"/>
          <p:cNvSpPr/>
          <p:nvPr/>
        </p:nvSpPr>
        <p:spPr>
          <a:xfrm xmlns:a="http://schemas.openxmlformats.org/drawingml/2006/main">
            <a:off x="32688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4" name="L2N1"/>
          <p:cNvSpPr txBox="1"/>
          <p:nvPr/>
        </p:nvSpPr>
        <p:spPr>
          <a:xfrm xmlns:a="http://schemas.openxmlformats.org/drawingml/2006/main">
            <a:off x="32976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知识图谱</a:t>
            </a:r>
          </a:p>
        </p:txBody>
      </p:sp>
      <p:sp>
        <p:nvSpPr>
          <p:cNvPr id="100125" name="L2S1"/>
          <p:cNvSpPr txBox="1"/>
          <p:nvPr/>
        </p:nvSpPr>
        <p:spPr>
          <a:xfrm xmlns:a="http://schemas.openxmlformats.org/drawingml/2006/main">
            <a:off x="32976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教材 · 章节 · 知识点</a:t>
            </a:r>
          </a:p>
        </p:txBody>
      </p:sp>
      <p:sp>
        <p:nvSpPr>
          <p:cNvPr id="100126" name="L2C2"/>
          <p:cNvSpPr/>
          <p:nvPr/>
        </p:nvSpPr>
        <p:spPr>
          <a:xfrm xmlns:a="http://schemas.openxmlformats.org/drawingml/2006/main">
            <a:off x="46800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7" name="L2N2"/>
          <p:cNvSpPr txBox="1"/>
          <p:nvPr/>
        </p:nvSpPr>
        <p:spPr>
          <a:xfrm xmlns:a="http://schemas.openxmlformats.org/drawingml/2006/main">
            <a:off x="47088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资源中心</a:t>
            </a:r>
          </a:p>
        </p:txBody>
      </p:sp>
      <p:sp>
        <p:nvSpPr>
          <p:cNvPr id="100128" name="L2S2"/>
          <p:cNvSpPr txBox="1"/>
          <p:nvPr/>
        </p:nvSpPr>
        <p:spPr>
          <a:xfrm xmlns:a="http://schemas.openxmlformats.org/drawingml/2006/main">
            <a:off x="47088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题 · 卷 · 课件 · 教辅</a:t>
            </a:r>
          </a:p>
        </p:txBody>
      </p:sp>
      <p:sp>
        <p:nvSpPr>
          <p:cNvPr id="100129" name="L2C3"/>
          <p:cNvSpPr/>
          <p:nvPr/>
        </p:nvSpPr>
        <p:spPr>
          <a:xfrm xmlns:a="http://schemas.openxmlformats.org/drawingml/2006/main">
            <a:off x="60948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0" name="L2N3"/>
          <p:cNvSpPr txBox="1"/>
          <p:nvPr/>
        </p:nvSpPr>
        <p:spPr>
          <a:xfrm xmlns:a="http://schemas.openxmlformats.org/drawingml/2006/main">
            <a:off x="61200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文件与影像</a:t>
            </a:r>
          </a:p>
        </p:txBody>
      </p:sp>
      <p:sp>
        <p:nvSpPr>
          <p:cNvPr id="100131" name="L2S3"/>
          <p:cNvSpPr txBox="1"/>
          <p:nvPr/>
        </p:nvSpPr>
        <p:spPr>
          <a:xfrm xmlns:a="http://schemas.openxmlformats.org/drawingml/2006/main">
            <a:off x="61200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原卷 · 答题卡 · 照片</a:t>
            </a:r>
          </a:p>
        </p:txBody>
      </p:sp>
      <p:sp>
        <p:nvSpPr>
          <p:cNvPr id="100132" name="L2C4"/>
          <p:cNvSpPr/>
          <p:nvPr/>
        </p:nvSpPr>
        <p:spPr>
          <a:xfrm xmlns:a="http://schemas.openxmlformats.org/drawingml/2006/main">
            <a:off x="75060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3" name="L2N4"/>
          <p:cNvSpPr txBox="1"/>
          <p:nvPr/>
        </p:nvSpPr>
        <p:spPr>
          <a:xfrm xmlns:a="http://schemas.openxmlformats.org/drawingml/2006/main">
            <a:off x="75348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检索服务</a:t>
            </a:r>
          </a:p>
        </p:txBody>
      </p:sp>
      <p:sp>
        <p:nvSpPr>
          <p:cNvPr id="100134" name="L2S4"/>
          <p:cNvSpPr txBox="1"/>
          <p:nvPr/>
        </p:nvSpPr>
        <p:spPr>
          <a:xfrm xmlns:a="http://schemas.openxmlformats.org/drawingml/2006/main">
            <a:off x="75348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全文 · 向量语义</a:t>
            </a:r>
          </a:p>
        </p:txBody>
      </p:sp>
      <p:sp>
        <p:nvSpPr>
          <p:cNvPr id="100135" name="L2C5"/>
          <p:cNvSpPr/>
          <p:nvPr/>
        </p:nvSpPr>
        <p:spPr>
          <a:xfrm xmlns:a="http://schemas.openxmlformats.org/drawingml/2006/main">
            <a:off x="89172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6" name="L2N5"/>
          <p:cNvSpPr txBox="1"/>
          <p:nvPr/>
        </p:nvSpPr>
        <p:spPr>
          <a:xfrm xmlns:a="http://schemas.openxmlformats.org/drawingml/2006/main">
            <a:off x="89460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元数据字典</a:t>
            </a:r>
          </a:p>
        </p:txBody>
      </p:sp>
      <p:sp>
        <p:nvSpPr>
          <p:cNvPr id="100137" name="L2S5"/>
          <p:cNvSpPr txBox="1"/>
          <p:nvPr/>
        </p:nvSpPr>
        <p:spPr>
          <a:xfrm xmlns:a="http://schemas.openxmlformats.org/drawingml/2006/main">
            <a:off x="89460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学科 · 题型 · 难度</a:t>
            </a:r>
          </a:p>
        </p:txBody>
      </p:sp>
      <p:sp>
        <p:nvSpPr>
          <p:cNvPr id="100138" name="L1C0"/>
          <p:cNvSpPr/>
          <p:nvPr/>
        </p:nvSpPr>
        <p:spPr>
          <a:xfrm xmlns:a="http://schemas.openxmlformats.org/drawingml/2006/main">
            <a:off x="18540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9" name="L1V0"/>
          <p:cNvSpPr txBox="1"/>
          <p:nvPr/>
        </p:nvSpPr>
        <p:spPr>
          <a:xfrm xmlns:a="http://schemas.openxmlformats.org/drawingml/2006/main">
            <a:off x="18756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公有云 / 私有化部署</a:t>
            </a:r>
          </a:p>
        </p:txBody>
      </p:sp>
      <p:sp>
        <p:nvSpPr>
          <p:cNvPr id="100140" name="L1C1"/>
          <p:cNvSpPr/>
          <p:nvPr/>
        </p:nvSpPr>
        <p:spPr>
          <a:xfrm xmlns:a="http://schemas.openxmlformats.org/drawingml/2006/main">
            <a:off x="35496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1" name="L1V1"/>
          <p:cNvSpPr txBox="1"/>
          <p:nvPr/>
        </p:nvSpPr>
        <p:spPr>
          <a:xfrm xmlns:a="http://schemas.openxmlformats.org/drawingml/2006/main">
            <a:off x="35712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MySQL · Redis · 队列</a:t>
            </a:r>
          </a:p>
        </p:txBody>
      </p:sp>
      <p:sp>
        <p:nvSpPr>
          <p:cNvPr id="100142" name="L1C2"/>
          <p:cNvSpPr/>
          <p:nvPr/>
        </p:nvSpPr>
        <p:spPr>
          <a:xfrm xmlns:a="http://schemas.openxmlformats.org/drawingml/2006/main">
            <a:off x="52452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3" name="L1V2"/>
          <p:cNvSpPr txBox="1"/>
          <p:nvPr/>
        </p:nvSpPr>
        <p:spPr>
          <a:xfrm xmlns:a="http://schemas.openxmlformats.org/drawingml/2006/main">
            <a:off x="52668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对象存储 · CDN</a:t>
            </a:r>
          </a:p>
        </p:txBody>
      </p:sp>
      <p:sp>
        <p:nvSpPr>
          <p:cNvPr id="100144" name="L1C3"/>
          <p:cNvSpPr/>
          <p:nvPr/>
        </p:nvSpPr>
        <p:spPr>
          <a:xfrm xmlns:a="http://schemas.openxmlformats.org/drawingml/2006/main">
            <a:off x="69408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5" name="L1V3"/>
          <p:cNvSpPr txBox="1"/>
          <p:nvPr/>
        </p:nvSpPr>
        <p:spPr>
          <a:xfrm xmlns:a="http://schemas.openxmlformats.org/drawingml/2006/main">
            <a:off x="69624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容器编排 · 弹性伸缩</a:t>
            </a:r>
          </a:p>
        </p:txBody>
      </p:sp>
      <p:sp>
        <p:nvSpPr>
          <p:cNvPr id="100146" name="L1C4"/>
          <p:cNvSpPr/>
          <p:nvPr/>
        </p:nvSpPr>
        <p:spPr>
          <a:xfrm xmlns:a="http://schemas.openxmlformats.org/drawingml/2006/main">
            <a:off x="86364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7" name="L1V4"/>
          <p:cNvSpPr txBox="1"/>
          <p:nvPr/>
        </p:nvSpPr>
        <p:spPr>
          <a:xfrm xmlns:a="http://schemas.openxmlformats.org/drawingml/2006/main">
            <a:off x="86580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监控告警 · 备份容灾</a:t>
            </a:r>
          </a:p>
        </p:txBody>
      </p:sp>
      <p:sp>
        <p:nvSpPr>
          <p:cNvPr id="100148" name="SecBand"/>
          <p:cNvSpPr/>
          <p:nvPr/>
        </p:nvSpPr>
        <p:spPr>
          <a:xfrm xmlns:a="http://schemas.openxmlformats.org/drawingml/2006/main">
            <a:off x="10404000" y="1152000"/>
            <a:ext cx="1321200" cy="48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9" name="SecHead"/>
          <p:cNvSpPr/>
          <p:nvPr/>
        </p:nvSpPr>
        <p:spPr>
          <a:xfrm xmlns:a="http://schemas.openxmlformats.org/drawingml/2006/main">
            <a:off x="10404000" y="1152000"/>
            <a:ext cx="1321200" cy="5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83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0" name="SecHT"/>
          <p:cNvSpPr txBox="1"/>
          <p:nvPr/>
        </p:nvSpPr>
        <p:spPr>
          <a:xfrm xmlns:a="http://schemas.openxmlformats.org/drawingml/2006/main">
            <a:off x="10447200" y="1224000"/>
            <a:ext cx="12348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Microsoft YaHei"/>
                <a:ea typeface="Microsoft YaHei"/>
              </a:rPr>
              <a:t>安全与合规</a:t>
            </a:r>
          </a:p>
        </p:txBody>
      </p:sp>
      <p:sp>
        <p:nvSpPr>
          <p:cNvPr id="100151" name="SecHS"/>
          <p:cNvSpPr txBox="1"/>
          <p:nvPr/>
        </p:nvSpPr>
        <p:spPr>
          <a:xfrm xmlns:a="http://schemas.openxmlformats.org/drawingml/2006/main">
            <a:off x="10447200" y="1447200"/>
            <a:ext cx="12348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贯穿全栈 · 不可砍</a:t>
            </a:r>
          </a:p>
        </p:txBody>
      </p:sp>
      <p:sp>
        <p:nvSpPr>
          <p:cNvPr id="100152" name="SEC0"/>
          <p:cNvSpPr/>
          <p:nvPr/>
        </p:nvSpPr>
        <p:spPr>
          <a:xfrm xmlns:a="http://schemas.openxmlformats.org/drawingml/2006/main">
            <a:off x="10450800" y="17820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3" name="SECD0"/>
          <p:cNvSpPr/>
          <p:nvPr/>
        </p:nvSpPr>
        <p:spPr>
          <a:xfrm xmlns:a="http://schemas.openxmlformats.org/drawingml/2006/main">
            <a:off x="10450800" y="17820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4" name="SECN0"/>
          <p:cNvSpPr txBox="1"/>
          <p:nvPr/>
        </p:nvSpPr>
        <p:spPr>
          <a:xfrm xmlns:a="http://schemas.openxmlformats.org/drawingml/2006/main">
            <a:off x="10526400" y="18396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租户隔离</a:t>
            </a:r>
          </a:p>
        </p:txBody>
      </p:sp>
      <p:sp>
        <p:nvSpPr>
          <p:cNvPr id="100155" name="SECS0"/>
          <p:cNvSpPr txBox="1"/>
          <p:nvPr/>
        </p:nvSpPr>
        <p:spPr>
          <a:xfrm xmlns:a="http://schemas.openxmlformats.org/drawingml/2006/main">
            <a:off x="10526400" y="19980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行级 tenant_id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与独立库两种模式</a:t>
            </a:r>
          </a:p>
        </p:txBody>
      </p:sp>
      <p:sp>
        <p:nvSpPr>
          <p:cNvPr id="100156" name="SEC1"/>
          <p:cNvSpPr/>
          <p:nvPr/>
        </p:nvSpPr>
        <p:spPr>
          <a:xfrm xmlns:a="http://schemas.openxmlformats.org/drawingml/2006/main">
            <a:off x="10450800" y="24984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7" name="SECD1"/>
          <p:cNvSpPr/>
          <p:nvPr/>
        </p:nvSpPr>
        <p:spPr>
          <a:xfrm xmlns:a="http://schemas.openxmlformats.org/drawingml/2006/main">
            <a:off x="10450800" y="24984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8" name="SECN1"/>
          <p:cNvSpPr txBox="1"/>
          <p:nvPr/>
        </p:nvSpPr>
        <p:spPr>
          <a:xfrm xmlns:a="http://schemas.openxmlformats.org/drawingml/2006/main">
            <a:off x="10526400" y="25560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三层鉴权</a:t>
            </a:r>
          </a:p>
        </p:txBody>
      </p:sp>
      <p:sp>
        <p:nvSpPr>
          <p:cNvPr id="100159" name="SECS1"/>
          <p:cNvSpPr txBox="1"/>
          <p:nvPr/>
        </p:nvSpPr>
        <p:spPr>
          <a:xfrm xmlns:a="http://schemas.openxmlformats.org/drawingml/2006/main">
            <a:off x="10526400" y="27144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路由 · 接口 · 按钮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同一判定源</a:t>
            </a:r>
          </a:p>
        </p:txBody>
      </p:sp>
      <p:sp>
        <p:nvSpPr>
          <p:cNvPr id="100160" name="SEC2"/>
          <p:cNvSpPr/>
          <p:nvPr/>
        </p:nvSpPr>
        <p:spPr>
          <a:xfrm xmlns:a="http://schemas.openxmlformats.org/drawingml/2006/main">
            <a:off x="10450800" y="32148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1" name="SECD2"/>
          <p:cNvSpPr/>
          <p:nvPr/>
        </p:nvSpPr>
        <p:spPr>
          <a:xfrm xmlns:a="http://schemas.openxmlformats.org/drawingml/2006/main">
            <a:off x="10450800" y="32148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2" name="SECN2"/>
          <p:cNvSpPr txBox="1"/>
          <p:nvPr/>
        </p:nvSpPr>
        <p:spPr>
          <a:xfrm xmlns:a="http://schemas.openxmlformats.org/drawingml/2006/main">
            <a:off x="10526400" y="32724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数据脱敏</a:t>
            </a:r>
          </a:p>
        </p:txBody>
      </p:sp>
      <p:sp>
        <p:nvSpPr>
          <p:cNvPr id="100163" name="SECS2"/>
          <p:cNvSpPr txBox="1"/>
          <p:nvPr/>
        </p:nvSpPr>
        <p:spPr>
          <a:xfrm xmlns:a="http://schemas.openxmlformats.org/drawingml/2006/main">
            <a:off x="10526400" y="34308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手机号 · 身份证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成绩按角色遮蔽</a:t>
            </a:r>
          </a:p>
        </p:txBody>
      </p:sp>
      <p:sp>
        <p:nvSpPr>
          <p:cNvPr id="100164" name="SEC3"/>
          <p:cNvSpPr/>
          <p:nvPr/>
        </p:nvSpPr>
        <p:spPr>
          <a:xfrm xmlns:a="http://schemas.openxmlformats.org/drawingml/2006/main">
            <a:off x="10450800" y="39312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5" name="SECD3"/>
          <p:cNvSpPr/>
          <p:nvPr/>
        </p:nvSpPr>
        <p:spPr>
          <a:xfrm xmlns:a="http://schemas.openxmlformats.org/drawingml/2006/main">
            <a:off x="10450800" y="39312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6" name="SECN3"/>
          <p:cNvSpPr txBox="1"/>
          <p:nvPr/>
        </p:nvSpPr>
        <p:spPr>
          <a:xfrm xmlns:a="http://schemas.openxmlformats.org/drawingml/2006/main">
            <a:off x="10526400" y="39888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内容安全</a:t>
            </a:r>
          </a:p>
        </p:txBody>
      </p:sp>
      <p:sp>
        <p:nvSpPr>
          <p:cNvPr id="100167" name="SECS3"/>
          <p:cNvSpPr txBox="1"/>
          <p:nvPr/>
        </p:nvSpPr>
        <p:spPr>
          <a:xfrm xmlns:a="http://schemas.openxmlformats.org/drawingml/2006/main">
            <a:off x="10526400" y="41472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AI 产物复核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未成年人保护</a:t>
            </a:r>
          </a:p>
        </p:txBody>
      </p:sp>
      <p:sp>
        <p:nvSpPr>
          <p:cNvPr id="100168" name="SEC4"/>
          <p:cNvSpPr/>
          <p:nvPr/>
        </p:nvSpPr>
        <p:spPr>
          <a:xfrm xmlns:a="http://schemas.openxmlformats.org/drawingml/2006/main">
            <a:off x="10450800" y="46476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9" name="SECD4"/>
          <p:cNvSpPr/>
          <p:nvPr/>
        </p:nvSpPr>
        <p:spPr>
          <a:xfrm xmlns:a="http://schemas.openxmlformats.org/drawingml/2006/main">
            <a:off x="10450800" y="46476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0" name="SECN4"/>
          <p:cNvSpPr txBox="1"/>
          <p:nvPr/>
        </p:nvSpPr>
        <p:spPr>
          <a:xfrm xmlns:a="http://schemas.openxmlformats.org/drawingml/2006/main">
            <a:off x="10526400" y="47052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审计留痕</a:t>
            </a:r>
          </a:p>
        </p:txBody>
      </p:sp>
      <p:sp>
        <p:nvSpPr>
          <p:cNvPr id="100171" name="SECS4"/>
          <p:cNvSpPr txBox="1"/>
          <p:nvPr/>
        </p:nvSpPr>
        <p:spPr>
          <a:xfrm xmlns:a="http://schemas.openxmlformats.org/drawingml/2006/main">
            <a:off x="10526400" y="48636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操作 · 登录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计费全量留痕</a:t>
            </a:r>
          </a:p>
        </p:txBody>
      </p:sp>
      <p:sp>
        <p:nvSpPr>
          <p:cNvPr id="100172" name="SEC5"/>
          <p:cNvSpPr/>
          <p:nvPr/>
        </p:nvSpPr>
        <p:spPr>
          <a:xfrm xmlns:a="http://schemas.openxmlformats.org/drawingml/2006/main">
            <a:off x="10450800" y="53640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3" name="SECD5"/>
          <p:cNvSpPr/>
          <p:nvPr/>
        </p:nvSpPr>
        <p:spPr>
          <a:xfrm xmlns:a="http://schemas.openxmlformats.org/drawingml/2006/main">
            <a:off x="10450800" y="53640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4" name="SECN5"/>
          <p:cNvSpPr txBox="1"/>
          <p:nvPr/>
        </p:nvSpPr>
        <p:spPr>
          <a:xfrm xmlns:a="http://schemas.openxmlformats.org/drawingml/2006/main">
            <a:off x="10526400" y="54216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备份与软删除</a:t>
            </a:r>
          </a:p>
        </p:txBody>
      </p:sp>
      <p:sp>
        <p:nvSpPr>
          <p:cNvPr id="100175" name="SECS5"/>
          <p:cNvSpPr txBox="1"/>
          <p:nvPr/>
        </p:nvSpPr>
        <p:spPr>
          <a:xfrm xmlns:a="http://schemas.openxmlformats.org/drawingml/2006/main">
            <a:off x="10526400" y="55800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回收站可恢复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容灾定期演练</a:t>
            </a:r>
          </a:p>
        </p:txBody>
      </p:sp>
      <p:sp>
        <p:nvSpPr>
          <p:cNvPr id="100176" name="F1"/>
          <p:cNvSpPr txBox="1"/>
          <p:nvPr/>
        </p:nvSpPr>
        <p:spPr>
          <a:xfrm xmlns:a="http://schemas.openxmlformats.org/drawingml/2006/main">
            <a:off x="468000" y="6328800"/>
            <a:ext cx="792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教学云AI 平台　产品架构图</a:t>
            </a:r>
          </a:p>
        </p:txBody>
      </p:sp>
      <p:sp>
        <p:nvSpPr>
          <p:cNvPr id="100177" name="P1"/>
          <p:cNvSpPr txBox="1"/>
          <p:nvPr/>
        </p:nvSpPr>
        <p:spPr>
          <a:xfrm xmlns:a="http://schemas.openxmlformats.org/drawingml/2006/main">
            <a:off x="9565200" y="6328800"/>
            <a:ext cx="216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1 / 3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集成架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78" name="H2Bar"/>
          <p:cNvSpPr/>
          <p:nvPr/>
        </p:nvSpPr>
        <p:spPr>
          <a:xfrm xmlns:a="http://schemas.openxmlformats.org/drawingml/2006/main">
            <a:off x="468000" y="309600"/>
            <a:ext cx="5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9" name="H2T"/>
          <p:cNvSpPr txBox="1"/>
          <p:nvPr/>
        </p:nvSpPr>
        <p:spPr>
          <a:xfrm xmlns:a="http://schemas.openxmlformats.org/drawingml/2006/main">
            <a:off x="612000" y="259200"/>
            <a:ext cx="1096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3100" b="1">
                <a:solidFill>
                  <a:srgbClr val="1B3A5C"/>
                </a:solidFill>
                <a:latin typeface="Microsoft YaHei"/>
                <a:ea typeface="Microsoft YaHei"/>
              </a:rPr>
              <a:t>集成架构：与校管家、AI 平台及周边系统的边界</a:t>
            </a:r>
          </a:p>
        </p:txBody>
      </p:sp>
      <p:sp>
        <p:nvSpPr>
          <p:cNvPr id="100180" name="H2S"/>
          <p:cNvSpPr txBox="1"/>
          <p:nvPr/>
        </p:nvSpPr>
        <p:spPr>
          <a:xfrm xmlns:a="http://schemas.openxmlformats.org/drawingml/2006/main">
            <a:off x="612000" y="813600"/>
            <a:ext cx="109692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6B8399"/>
                </a:solidFill>
                <a:latin typeface="Microsoft YaHei"/>
                <a:ea typeface="Microsoft YaHei"/>
              </a:rPr>
              <a:t>家长端、学生端不新建端——以「新增功能模块」内嵌校管家 App / 小程序 / H5，复用其账号体系与消息通道</a:t>
            </a:r>
          </a:p>
        </p:txBody>
      </p:sp>
      <p:sp>
        <p:nvSpPr>
          <p:cNvPr id="100181" name="AHead"/>
          <p:cNvSpPr/>
          <p:nvPr/>
        </p:nvSpPr>
        <p:spPr>
          <a:xfrm xmlns:a="http://schemas.openxmlformats.org/drawingml/2006/main">
            <a:off x="468000" y="1152000"/>
            <a:ext cx="262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2" name="AHT"/>
          <p:cNvSpPr txBox="1"/>
          <p:nvPr/>
        </p:nvSpPr>
        <p:spPr>
          <a:xfrm xmlns:a="http://schemas.openxmlformats.org/drawingml/2006/main">
            <a:off x="576000" y="1209600"/>
            <a:ext cx="2412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校管家</a:t>
            </a:r>
          </a:p>
        </p:txBody>
      </p:sp>
      <p:sp>
        <p:nvSpPr>
          <p:cNvPr id="100183" name="AHS"/>
          <p:cNvSpPr txBox="1"/>
          <p:nvPr/>
        </p:nvSpPr>
        <p:spPr>
          <a:xfrm xmlns:a="http://schemas.openxmlformats.org/drawingml/2006/main">
            <a:off x="576000" y="1483200"/>
            <a:ext cx="2412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D6E4ED"/>
                </a:solidFill>
                <a:latin typeface="Microsoft YaHei"/>
                <a:ea typeface="Microsoft YaHei"/>
              </a:rPr>
              <a:t>业务主数据源 · 外部系统</a:t>
            </a:r>
          </a:p>
        </p:txBody>
      </p:sp>
      <p:sp>
        <p:nvSpPr>
          <p:cNvPr id="100184" name="AR0"/>
          <p:cNvSpPr/>
          <p:nvPr/>
        </p:nvSpPr>
        <p:spPr>
          <a:xfrm xmlns:a="http://schemas.openxmlformats.org/drawingml/2006/main">
            <a:off x="468000" y="1749600"/>
            <a:ext cx="2628000" cy="331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5" name="ARN0"/>
          <p:cNvSpPr txBox="1"/>
          <p:nvPr/>
        </p:nvSpPr>
        <p:spPr>
          <a:xfrm xmlns:a="http://schemas.openxmlformats.org/drawingml/2006/main">
            <a:off x="554400" y="1749600"/>
            <a:ext cx="11520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23303D"/>
                </a:solidFill>
                <a:latin typeface="Microsoft YaHei"/>
                <a:ea typeface="Microsoft YaHei"/>
              </a:rPr>
              <a:t>班级与年级</a:t>
            </a:r>
          </a:p>
        </p:txBody>
      </p:sp>
      <p:sp>
        <p:nvSpPr>
          <p:cNvPr id="100186" name="ARS0"/>
          <p:cNvSpPr txBox="1"/>
          <p:nvPr/>
        </p:nvSpPr>
        <p:spPr>
          <a:xfrm xmlns:a="http://schemas.openxmlformats.org/drawingml/2006/main">
            <a:off x="1728000" y="1749600"/>
            <a:ext cx="12816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行政班 · 教学班</a:t>
            </a:r>
          </a:p>
        </p:txBody>
      </p:sp>
      <p:sp>
        <p:nvSpPr>
          <p:cNvPr id="100187" name="AR1"/>
          <p:cNvSpPr/>
          <p:nvPr/>
        </p:nvSpPr>
        <p:spPr>
          <a:xfrm xmlns:a="http://schemas.openxmlformats.org/drawingml/2006/main">
            <a:off x="468000" y="2124000"/>
            <a:ext cx="2628000" cy="331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8" name="ARN1"/>
          <p:cNvSpPr txBox="1"/>
          <p:nvPr/>
        </p:nvSpPr>
        <p:spPr>
          <a:xfrm xmlns:a="http://schemas.openxmlformats.org/drawingml/2006/main">
            <a:off x="554400" y="2124000"/>
            <a:ext cx="11520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23303D"/>
                </a:solidFill>
                <a:latin typeface="Microsoft YaHei"/>
                <a:ea typeface="Microsoft YaHei"/>
              </a:rPr>
              <a:t>学员与家长</a:t>
            </a:r>
          </a:p>
        </p:txBody>
      </p:sp>
      <p:sp>
        <p:nvSpPr>
          <p:cNvPr id="100189" name="ARS1"/>
          <p:cNvSpPr txBox="1"/>
          <p:nvPr/>
        </p:nvSpPr>
        <p:spPr>
          <a:xfrm xmlns:a="http://schemas.openxmlformats.org/drawingml/2006/main">
            <a:off x="1728000" y="2124000"/>
            <a:ext cx="12816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学生档案 · 监护人</a:t>
            </a:r>
          </a:p>
        </p:txBody>
      </p:sp>
      <p:sp>
        <p:nvSpPr>
          <p:cNvPr id="100190" name="AR2"/>
          <p:cNvSpPr/>
          <p:nvPr/>
        </p:nvSpPr>
        <p:spPr>
          <a:xfrm xmlns:a="http://schemas.openxmlformats.org/drawingml/2006/main">
            <a:off x="468000" y="2498400"/>
            <a:ext cx="2628000" cy="331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1" name="ARN2"/>
          <p:cNvSpPr txBox="1"/>
          <p:nvPr/>
        </p:nvSpPr>
        <p:spPr>
          <a:xfrm xmlns:a="http://schemas.openxmlformats.org/drawingml/2006/main">
            <a:off x="554400" y="2498400"/>
            <a:ext cx="11520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23303D"/>
                </a:solidFill>
                <a:latin typeface="Microsoft YaHei"/>
                <a:ea typeface="Microsoft YaHei"/>
              </a:rPr>
              <a:t>教师与账号</a:t>
            </a:r>
          </a:p>
        </p:txBody>
      </p:sp>
      <p:sp>
        <p:nvSpPr>
          <p:cNvPr id="100192" name="ARS2"/>
          <p:cNvSpPr txBox="1"/>
          <p:nvPr/>
        </p:nvSpPr>
        <p:spPr>
          <a:xfrm xmlns:a="http://schemas.openxmlformats.org/drawingml/2006/main">
            <a:off x="1728000" y="2498400"/>
            <a:ext cx="12816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任课关系 · 登录身份</a:t>
            </a:r>
          </a:p>
        </p:txBody>
      </p:sp>
      <p:sp>
        <p:nvSpPr>
          <p:cNvPr id="100193" name="AR3"/>
          <p:cNvSpPr/>
          <p:nvPr/>
        </p:nvSpPr>
        <p:spPr>
          <a:xfrm xmlns:a="http://schemas.openxmlformats.org/drawingml/2006/main">
            <a:off x="468000" y="2872800"/>
            <a:ext cx="2628000" cy="331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4" name="ARN3"/>
          <p:cNvSpPr txBox="1"/>
          <p:nvPr/>
        </p:nvSpPr>
        <p:spPr>
          <a:xfrm xmlns:a="http://schemas.openxmlformats.org/drawingml/2006/main">
            <a:off x="554400" y="2872800"/>
            <a:ext cx="11520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23303D"/>
                </a:solidFill>
                <a:latin typeface="Microsoft YaHei"/>
                <a:ea typeface="Microsoft YaHei"/>
              </a:rPr>
              <a:t>课程与排课</a:t>
            </a:r>
          </a:p>
        </p:txBody>
      </p:sp>
      <p:sp>
        <p:nvSpPr>
          <p:cNvPr id="100195" name="ARS3"/>
          <p:cNvSpPr txBox="1"/>
          <p:nvPr/>
        </p:nvSpPr>
        <p:spPr>
          <a:xfrm xmlns:a="http://schemas.openxmlformats.org/drawingml/2006/main">
            <a:off x="1728000" y="2872800"/>
            <a:ext cx="12816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课表 · 课时</a:t>
            </a:r>
          </a:p>
        </p:txBody>
      </p:sp>
      <p:sp>
        <p:nvSpPr>
          <p:cNvPr id="100196" name="ANote"/>
          <p:cNvSpPr txBox="1"/>
          <p:nvPr/>
        </p:nvSpPr>
        <p:spPr>
          <a:xfrm xmlns:a="http://schemas.openxmlformats.org/drawingml/2006/main">
            <a:off x="468000" y="3261600"/>
            <a:ext cx="2628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↑ 单向：教学云只读镜像，不回写主数据</a:t>
            </a:r>
          </a:p>
        </p:txBody>
      </p:sp>
      <p:sp>
        <p:nvSpPr>
          <p:cNvPr id="100197" name="AEmbed"/>
          <p:cNvSpPr/>
          <p:nvPr/>
        </p:nvSpPr>
        <p:spPr>
          <a:xfrm xmlns:a="http://schemas.openxmlformats.org/drawingml/2006/main">
            <a:off x="468000" y="3672000"/>
            <a:ext cx="2628000" cy="131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762D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8" name="AET"/>
          <p:cNvSpPr txBox="1"/>
          <p:nvPr/>
        </p:nvSpPr>
        <p:spPr>
          <a:xfrm xmlns:a="http://schemas.openxmlformats.org/drawingml/2006/main">
            <a:off x="568800" y="3751200"/>
            <a:ext cx="2124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50" b="1">
                <a:solidFill>
                  <a:srgbClr val="C2762D"/>
                </a:solidFill>
                <a:latin typeface="Microsoft YaHei"/>
                <a:ea typeface="Microsoft YaHei"/>
              </a:rPr>
              <a:t>新增功能模块（内嵌）</a:t>
            </a:r>
          </a:p>
        </p:txBody>
      </p:sp>
      <p:sp>
        <p:nvSpPr>
          <p:cNvPr id="100199" name="M4"/>
          <p:cNvSpPr/>
          <p:nvPr/>
        </p:nvSpPr>
        <p:spPr>
          <a:xfrm xmlns:a="http://schemas.openxmlformats.org/drawingml/2006/main">
            <a:off x="2786400" y="3744000"/>
            <a:ext cx="223200" cy="2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0" name="M4T"/>
          <p:cNvSpPr txBox="1"/>
          <p:nvPr/>
        </p:nvSpPr>
        <p:spPr>
          <a:xfrm xmlns:a="http://schemas.openxmlformats.org/drawingml/2006/main">
            <a:off x="2786400" y="3744000"/>
            <a:ext cx="2232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00201" name="AEB"/>
          <p:cNvSpPr txBox="1"/>
          <p:nvPr/>
        </p:nvSpPr>
        <p:spPr>
          <a:xfrm xmlns:a="http://schemas.openxmlformats.org/drawingml/2006/main">
            <a:off x="568800" y="3924000"/>
            <a:ext cx="242640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23303D"/>
                </a:solidFill>
                <a:latin typeface="Microsoft YaHei"/>
                <a:ea typeface="Microsoft YaHei"/>
              </a:rPr>
              <a:t>家长端 · 学生端</a:t>
            </a:r>
          </a:p>
        </p:txBody>
      </p:sp>
      <p:sp>
        <p:nvSpPr>
          <p:cNvPr id="100202" name="AEC"/>
          <p:cNvSpPr txBox="1"/>
          <p:nvPr/>
        </p:nvSpPr>
        <p:spPr>
          <a:xfrm xmlns:a="http://schemas.openxmlformats.org/drawingml/2006/main">
            <a:off x="568800" y="4190400"/>
            <a:ext cx="2426400" cy="7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承载　校管家 App / 小程序 / H5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新增　查看 · 提交 · 报告 三类入口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复用　登录态 · 组织关系 · 消息推送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红线　不新建 App，不重复建账号</a:t>
            </a:r>
          </a:p>
        </p:txBody>
      </p:sp>
      <p:sp>
        <p:nvSpPr>
          <p:cNvPr id="100203" name="BHead"/>
          <p:cNvSpPr/>
          <p:nvPr/>
        </p:nvSpPr>
        <p:spPr>
          <a:xfrm xmlns:a="http://schemas.openxmlformats.org/drawingml/2006/main">
            <a:off x="3762000" y="1152000"/>
            <a:ext cx="424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4" name="BHT"/>
          <p:cNvSpPr txBox="1"/>
          <p:nvPr/>
        </p:nvSpPr>
        <p:spPr>
          <a:xfrm xmlns:a="http://schemas.openxmlformats.org/drawingml/2006/main">
            <a:off x="3870000" y="1209600"/>
            <a:ext cx="4032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教学云AI 平台</a:t>
            </a:r>
          </a:p>
        </p:txBody>
      </p:sp>
      <p:sp>
        <p:nvSpPr>
          <p:cNvPr id="100205" name="BHS"/>
          <p:cNvSpPr txBox="1"/>
          <p:nvPr/>
        </p:nvSpPr>
        <p:spPr>
          <a:xfrm xmlns:a="http://schemas.openxmlformats.org/drawingml/2006/main">
            <a:off x="3870000" y="1483200"/>
            <a:ext cx="4032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D6E4ED"/>
                </a:solidFill>
                <a:latin typeface="Microsoft YaHei"/>
                <a:ea typeface="Microsoft YaHei"/>
              </a:rPr>
              <a:t>业务核心 · 本系统边界</a:t>
            </a:r>
          </a:p>
        </p:txBody>
      </p:sp>
      <p:sp>
        <p:nvSpPr>
          <p:cNvPr id="100206" name="BL0"/>
          <p:cNvSpPr/>
          <p:nvPr/>
        </p:nvSpPr>
        <p:spPr>
          <a:xfrm xmlns:a="http://schemas.openxmlformats.org/drawingml/2006/main">
            <a:off x="3762000" y="1749600"/>
            <a:ext cx="4248000" cy="10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7" name="BLD0"/>
          <p:cNvSpPr/>
          <p:nvPr/>
        </p:nvSpPr>
        <p:spPr>
          <a:xfrm xmlns:a="http://schemas.openxmlformats.org/drawingml/2006/main">
            <a:off x="3762000" y="1749600"/>
            <a:ext cx="50400" cy="10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8" name="BLN0"/>
          <p:cNvSpPr txBox="1"/>
          <p:nvPr/>
        </p:nvSpPr>
        <p:spPr>
          <a:xfrm xmlns:a="http://schemas.openxmlformats.org/drawingml/2006/main">
            <a:off x="3906000" y="1814400"/>
            <a:ext cx="39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1B3A5C"/>
                </a:solidFill>
                <a:latin typeface="Microsoft YaHei"/>
                <a:ea typeface="Microsoft YaHei"/>
              </a:rPr>
              <a:t>业务服务　教师 / 教务</a:t>
            </a:r>
          </a:p>
        </p:txBody>
      </p:sp>
      <p:sp>
        <p:nvSpPr>
          <p:cNvPr id="100209" name="BLC0_0"/>
          <p:cNvSpPr/>
          <p:nvPr/>
        </p:nvSpPr>
        <p:spPr>
          <a:xfrm xmlns:a="http://schemas.openxmlformats.org/drawingml/2006/main">
            <a:off x="3906000" y="21600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0" name="BLV0_0"/>
          <p:cNvSpPr txBox="1"/>
          <p:nvPr/>
        </p:nvSpPr>
        <p:spPr>
          <a:xfrm xmlns:a="http://schemas.openxmlformats.org/drawingml/2006/main">
            <a:off x="3906000" y="21600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题目管理</a:t>
            </a:r>
          </a:p>
        </p:txBody>
      </p:sp>
      <p:sp>
        <p:nvSpPr>
          <p:cNvPr id="100211" name="BLC0_1"/>
          <p:cNvSpPr/>
          <p:nvPr/>
        </p:nvSpPr>
        <p:spPr>
          <a:xfrm xmlns:a="http://schemas.openxmlformats.org/drawingml/2006/main">
            <a:off x="5263200" y="21600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2" name="BLV0_1"/>
          <p:cNvSpPr txBox="1"/>
          <p:nvPr/>
        </p:nvSpPr>
        <p:spPr>
          <a:xfrm xmlns:a="http://schemas.openxmlformats.org/drawingml/2006/main">
            <a:off x="5263200" y="21600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试卷管理</a:t>
            </a:r>
          </a:p>
        </p:txBody>
      </p:sp>
      <p:sp>
        <p:nvSpPr>
          <p:cNvPr id="100213" name="BLC0_2"/>
          <p:cNvSpPr/>
          <p:nvPr/>
        </p:nvSpPr>
        <p:spPr>
          <a:xfrm xmlns:a="http://schemas.openxmlformats.org/drawingml/2006/main">
            <a:off x="6624000" y="21600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4" name="BLV0_2"/>
          <p:cNvSpPr txBox="1"/>
          <p:nvPr/>
        </p:nvSpPr>
        <p:spPr>
          <a:xfrm xmlns:a="http://schemas.openxmlformats.org/drawingml/2006/main">
            <a:off x="6624000" y="21600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备课中心</a:t>
            </a:r>
          </a:p>
        </p:txBody>
      </p:sp>
      <p:sp>
        <p:nvSpPr>
          <p:cNvPr id="100215" name="BLC0_3"/>
          <p:cNvSpPr/>
          <p:nvPr/>
        </p:nvSpPr>
        <p:spPr>
          <a:xfrm xmlns:a="http://schemas.openxmlformats.org/drawingml/2006/main">
            <a:off x="3906000" y="24552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6" name="BLV0_3"/>
          <p:cNvSpPr txBox="1"/>
          <p:nvPr/>
        </p:nvSpPr>
        <p:spPr>
          <a:xfrm xmlns:a="http://schemas.openxmlformats.org/drawingml/2006/main">
            <a:off x="3906000" y="24552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考试阅卷</a:t>
            </a:r>
          </a:p>
        </p:txBody>
      </p:sp>
      <p:sp>
        <p:nvSpPr>
          <p:cNvPr id="100217" name="BLC0_4"/>
          <p:cNvSpPr/>
          <p:nvPr/>
        </p:nvSpPr>
        <p:spPr>
          <a:xfrm xmlns:a="http://schemas.openxmlformats.org/drawingml/2006/main">
            <a:off x="5263200" y="24552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8" name="BLV0_4"/>
          <p:cNvSpPr txBox="1"/>
          <p:nvPr/>
        </p:nvSpPr>
        <p:spPr>
          <a:xfrm xmlns:a="http://schemas.openxmlformats.org/drawingml/2006/main">
            <a:off x="5263200" y="24552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作业系统</a:t>
            </a:r>
          </a:p>
        </p:txBody>
      </p:sp>
      <p:sp>
        <p:nvSpPr>
          <p:cNvPr id="100219" name="BLC0_5"/>
          <p:cNvSpPr/>
          <p:nvPr/>
        </p:nvSpPr>
        <p:spPr>
          <a:xfrm xmlns:a="http://schemas.openxmlformats.org/drawingml/2006/main">
            <a:off x="6624000" y="24552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0" name="BLV0_5"/>
          <p:cNvSpPr txBox="1"/>
          <p:nvPr/>
        </p:nvSpPr>
        <p:spPr>
          <a:xfrm xmlns:a="http://schemas.openxmlformats.org/drawingml/2006/main">
            <a:off x="6624000" y="24552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校本资源</a:t>
            </a:r>
          </a:p>
        </p:txBody>
      </p:sp>
      <p:sp>
        <p:nvSpPr>
          <p:cNvPr id="100221" name="BL1"/>
          <p:cNvSpPr/>
          <p:nvPr/>
        </p:nvSpPr>
        <p:spPr>
          <a:xfrm xmlns:a="http://schemas.openxmlformats.org/drawingml/2006/main">
            <a:off x="3762000" y="2887200"/>
            <a:ext cx="4248000" cy="10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2" name="BLD1"/>
          <p:cNvSpPr/>
          <p:nvPr/>
        </p:nvSpPr>
        <p:spPr>
          <a:xfrm xmlns:a="http://schemas.openxmlformats.org/drawingml/2006/main">
            <a:off x="3762000" y="2887200"/>
            <a:ext cx="50400" cy="10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3" name="BLN1"/>
          <p:cNvSpPr txBox="1"/>
          <p:nvPr/>
        </p:nvSpPr>
        <p:spPr>
          <a:xfrm xmlns:a="http://schemas.openxmlformats.org/drawingml/2006/main">
            <a:off x="3906000" y="2952000"/>
            <a:ext cx="39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3D5A6E"/>
                </a:solidFill>
                <a:latin typeface="Microsoft YaHei"/>
                <a:ea typeface="Microsoft YaHei"/>
              </a:rPr>
              <a:t>能力与网关　中台</a:t>
            </a:r>
          </a:p>
        </p:txBody>
      </p:sp>
      <p:sp>
        <p:nvSpPr>
          <p:cNvPr id="100224" name="BLC1_0"/>
          <p:cNvSpPr/>
          <p:nvPr/>
        </p:nvSpPr>
        <p:spPr>
          <a:xfrm xmlns:a="http://schemas.openxmlformats.org/drawingml/2006/main">
            <a:off x="3906000" y="32976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5" name="BLV1_0"/>
          <p:cNvSpPr txBox="1"/>
          <p:nvPr/>
        </p:nvSpPr>
        <p:spPr>
          <a:xfrm xmlns:a="http://schemas.openxmlformats.org/drawingml/2006/main">
            <a:off x="3906000" y="32976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AI 网关</a:t>
            </a:r>
          </a:p>
        </p:txBody>
      </p:sp>
      <p:sp>
        <p:nvSpPr>
          <p:cNvPr id="100226" name="BLC1_1"/>
          <p:cNvSpPr/>
          <p:nvPr/>
        </p:nvSpPr>
        <p:spPr>
          <a:xfrm xmlns:a="http://schemas.openxmlformats.org/drawingml/2006/main">
            <a:off x="5263200" y="32976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7" name="BLV1_1"/>
          <p:cNvSpPr txBox="1"/>
          <p:nvPr/>
        </p:nvSpPr>
        <p:spPr>
          <a:xfrm xmlns:a="http://schemas.openxmlformats.org/drawingml/2006/main">
            <a:off x="5263200" y="32976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识别批改</a:t>
            </a:r>
          </a:p>
        </p:txBody>
      </p:sp>
      <p:sp>
        <p:nvSpPr>
          <p:cNvPr id="100228" name="BLC1_2"/>
          <p:cNvSpPr/>
          <p:nvPr/>
        </p:nvSpPr>
        <p:spPr>
          <a:xfrm xmlns:a="http://schemas.openxmlformats.org/drawingml/2006/main">
            <a:off x="6624000" y="32976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9" name="BLV1_2"/>
          <p:cNvSpPr txBox="1"/>
          <p:nvPr/>
        </p:nvSpPr>
        <p:spPr>
          <a:xfrm xmlns:a="http://schemas.openxmlformats.org/drawingml/2006/main">
            <a:off x="6624000" y="32976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排版切题</a:t>
            </a:r>
          </a:p>
        </p:txBody>
      </p:sp>
      <p:sp>
        <p:nvSpPr>
          <p:cNvPr id="100230" name="BLC1_3"/>
          <p:cNvSpPr/>
          <p:nvPr/>
        </p:nvSpPr>
        <p:spPr>
          <a:xfrm xmlns:a="http://schemas.openxmlformats.org/drawingml/2006/main">
            <a:off x="3906000" y="35928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1" name="BLV1_3"/>
          <p:cNvSpPr txBox="1"/>
          <p:nvPr/>
        </p:nvSpPr>
        <p:spPr>
          <a:xfrm xmlns:a="http://schemas.openxmlformats.org/drawingml/2006/main">
            <a:off x="3906000" y="35928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审批流</a:t>
            </a:r>
          </a:p>
        </p:txBody>
      </p:sp>
      <p:sp>
        <p:nvSpPr>
          <p:cNvPr id="100232" name="BLC1_4"/>
          <p:cNvSpPr/>
          <p:nvPr/>
        </p:nvSpPr>
        <p:spPr>
          <a:xfrm xmlns:a="http://schemas.openxmlformats.org/drawingml/2006/main">
            <a:off x="5263200" y="35928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3" name="BLV1_4"/>
          <p:cNvSpPr txBox="1"/>
          <p:nvPr/>
        </p:nvSpPr>
        <p:spPr>
          <a:xfrm xmlns:a="http://schemas.openxmlformats.org/drawingml/2006/main">
            <a:off x="5263200" y="35928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消息通知</a:t>
            </a:r>
          </a:p>
        </p:txBody>
      </p:sp>
      <p:sp>
        <p:nvSpPr>
          <p:cNvPr id="100234" name="BLC1_5"/>
          <p:cNvSpPr/>
          <p:nvPr/>
        </p:nvSpPr>
        <p:spPr>
          <a:xfrm xmlns:a="http://schemas.openxmlformats.org/drawingml/2006/main">
            <a:off x="6624000" y="35928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5" name="BLV1_5"/>
          <p:cNvSpPr txBox="1"/>
          <p:nvPr/>
        </p:nvSpPr>
        <p:spPr>
          <a:xfrm xmlns:a="http://schemas.openxmlformats.org/drawingml/2006/main">
            <a:off x="6624000" y="35928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权限校验</a:t>
            </a:r>
          </a:p>
        </p:txBody>
      </p:sp>
      <p:sp>
        <p:nvSpPr>
          <p:cNvPr id="100236" name="BL2"/>
          <p:cNvSpPr/>
          <p:nvPr/>
        </p:nvSpPr>
        <p:spPr>
          <a:xfrm xmlns:a="http://schemas.openxmlformats.org/drawingml/2006/main">
            <a:off x="3762000" y="4024800"/>
            <a:ext cx="4248000" cy="9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7" name="BLD2"/>
          <p:cNvSpPr/>
          <p:nvPr/>
        </p:nvSpPr>
        <p:spPr>
          <a:xfrm xmlns:a="http://schemas.openxmlformats.org/drawingml/2006/main">
            <a:off x="3762000" y="4024800"/>
            <a:ext cx="50400" cy="9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8" name="BLN2"/>
          <p:cNvSpPr txBox="1"/>
          <p:nvPr/>
        </p:nvSpPr>
        <p:spPr>
          <a:xfrm xmlns:a="http://schemas.openxmlformats.org/drawingml/2006/main">
            <a:off x="3906000" y="4089600"/>
            <a:ext cx="39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4E6B7E"/>
                </a:solidFill>
                <a:latin typeface="Microsoft YaHei"/>
                <a:ea typeface="Microsoft YaHei"/>
              </a:rPr>
              <a:t>数据底座　本系统沉淀</a:t>
            </a:r>
          </a:p>
        </p:txBody>
      </p:sp>
      <p:sp>
        <p:nvSpPr>
          <p:cNvPr id="100239" name="BLC2_0"/>
          <p:cNvSpPr/>
          <p:nvPr/>
        </p:nvSpPr>
        <p:spPr>
          <a:xfrm xmlns:a="http://schemas.openxmlformats.org/drawingml/2006/main">
            <a:off x="3906000" y="4420800"/>
            <a:ext cx="9468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0" name="BLV2_0"/>
          <p:cNvSpPr txBox="1"/>
          <p:nvPr/>
        </p:nvSpPr>
        <p:spPr>
          <a:xfrm xmlns:a="http://schemas.openxmlformats.org/drawingml/2006/main">
            <a:off x="3906000" y="4420800"/>
            <a:ext cx="9468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资源中心</a:t>
            </a:r>
          </a:p>
        </p:txBody>
      </p:sp>
      <p:sp>
        <p:nvSpPr>
          <p:cNvPr id="100241" name="BLC2_1"/>
          <p:cNvSpPr/>
          <p:nvPr/>
        </p:nvSpPr>
        <p:spPr>
          <a:xfrm xmlns:a="http://schemas.openxmlformats.org/drawingml/2006/main">
            <a:off x="4910400" y="4420800"/>
            <a:ext cx="9468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2" name="BLV2_1"/>
          <p:cNvSpPr txBox="1"/>
          <p:nvPr/>
        </p:nvSpPr>
        <p:spPr>
          <a:xfrm xmlns:a="http://schemas.openxmlformats.org/drawingml/2006/main">
            <a:off x="4910400" y="4420800"/>
            <a:ext cx="9468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学情库</a:t>
            </a:r>
          </a:p>
        </p:txBody>
      </p:sp>
      <p:sp>
        <p:nvSpPr>
          <p:cNvPr id="100243" name="BLC2_2"/>
          <p:cNvSpPr/>
          <p:nvPr/>
        </p:nvSpPr>
        <p:spPr>
          <a:xfrm xmlns:a="http://schemas.openxmlformats.org/drawingml/2006/main">
            <a:off x="5914800" y="4420800"/>
            <a:ext cx="9468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4" name="BLV2_2"/>
          <p:cNvSpPr txBox="1"/>
          <p:nvPr/>
        </p:nvSpPr>
        <p:spPr>
          <a:xfrm xmlns:a="http://schemas.openxmlformats.org/drawingml/2006/main">
            <a:off x="5914800" y="4420800"/>
            <a:ext cx="9468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组织镜像</a:t>
            </a:r>
          </a:p>
        </p:txBody>
      </p:sp>
      <p:sp>
        <p:nvSpPr>
          <p:cNvPr id="100245" name="BLC2_3"/>
          <p:cNvSpPr/>
          <p:nvPr/>
        </p:nvSpPr>
        <p:spPr>
          <a:xfrm xmlns:a="http://schemas.openxmlformats.org/drawingml/2006/main">
            <a:off x="6919200" y="4420800"/>
            <a:ext cx="9468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6" name="BLV2_3"/>
          <p:cNvSpPr txBox="1"/>
          <p:nvPr/>
        </p:nvSpPr>
        <p:spPr>
          <a:xfrm xmlns:a="http://schemas.openxmlformats.org/drawingml/2006/main">
            <a:off x="6919200" y="4420800"/>
            <a:ext cx="9468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审计日志</a:t>
            </a:r>
          </a:p>
        </p:txBody>
      </p:sp>
      <p:sp>
        <p:nvSpPr>
          <p:cNvPr id="100247" name="BLF2"/>
          <p:cNvSpPr txBox="1"/>
          <p:nvPr/>
        </p:nvSpPr>
        <p:spPr>
          <a:xfrm xmlns:a="http://schemas.openxmlformats.org/drawingml/2006/main">
            <a:off x="3906000" y="4723200"/>
            <a:ext cx="3960000" cy="1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资源主表与引用关系 · 学情事实表 · 主数据只读副本</a:t>
            </a:r>
          </a:p>
        </p:txBody>
      </p:sp>
      <p:sp>
        <p:nvSpPr>
          <p:cNvPr id="100248" name="CHead"/>
          <p:cNvSpPr/>
          <p:nvPr/>
        </p:nvSpPr>
        <p:spPr>
          <a:xfrm xmlns:a="http://schemas.openxmlformats.org/drawingml/2006/main">
            <a:off x="8640000" y="1152000"/>
            <a:ext cx="3085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9" name="CHT"/>
          <p:cNvSpPr txBox="1"/>
          <p:nvPr/>
        </p:nvSpPr>
        <p:spPr>
          <a:xfrm xmlns:a="http://schemas.openxmlformats.org/drawingml/2006/main">
            <a:off x="8740800" y="1216800"/>
            <a:ext cx="288360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外围 AI 平台</a:t>
            </a:r>
          </a:p>
        </p:txBody>
      </p:sp>
      <p:sp>
        <p:nvSpPr>
          <p:cNvPr id="100250" name="CHS"/>
          <p:cNvSpPr txBox="1"/>
          <p:nvPr/>
        </p:nvSpPr>
        <p:spPr>
          <a:xfrm xmlns:a="http://schemas.openxmlformats.org/drawingml/2006/main">
            <a:off x="8740800" y="1476000"/>
            <a:ext cx="2883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D6E4ED"/>
                </a:solidFill>
                <a:latin typeface="Microsoft YaHei"/>
                <a:ea typeface="Microsoft YaHei"/>
              </a:rPr>
              <a:t>能力供给 · 不承载业务数据</a:t>
            </a:r>
          </a:p>
        </p:txBody>
      </p:sp>
      <p:sp>
        <p:nvSpPr>
          <p:cNvPr id="100251" name="C30"/>
          <p:cNvSpPr/>
          <p:nvPr/>
        </p:nvSpPr>
        <p:spPr>
          <a:xfrm xmlns:a="http://schemas.openxmlformats.org/drawingml/2006/main">
            <a:off x="8640000" y="17496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2" name="C3N0"/>
          <p:cNvSpPr txBox="1"/>
          <p:nvPr/>
        </p:nvSpPr>
        <p:spPr>
          <a:xfrm xmlns:a="http://schemas.openxmlformats.org/drawingml/2006/main">
            <a:off x="8726400" y="18072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大模型服务</a:t>
            </a:r>
          </a:p>
        </p:txBody>
      </p:sp>
      <p:sp>
        <p:nvSpPr>
          <p:cNvPr id="100253" name="C3S0"/>
          <p:cNvSpPr txBox="1"/>
          <p:nvPr/>
        </p:nvSpPr>
        <p:spPr>
          <a:xfrm xmlns:a="http://schemas.openxmlformats.org/drawingml/2006/main">
            <a:off x="8726400" y="19728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多供应商 · 按场景路由</a:t>
            </a:r>
          </a:p>
        </p:txBody>
      </p:sp>
      <p:sp>
        <p:nvSpPr>
          <p:cNvPr id="100254" name="C31"/>
          <p:cNvSpPr/>
          <p:nvPr/>
        </p:nvSpPr>
        <p:spPr>
          <a:xfrm xmlns:a="http://schemas.openxmlformats.org/drawingml/2006/main">
            <a:off x="8640000" y="22968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5" name="C3N1"/>
          <p:cNvSpPr txBox="1"/>
          <p:nvPr/>
        </p:nvSpPr>
        <p:spPr>
          <a:xfrm xmlns:a="http://schemas.openxmlformats.org/drawingml/2006/main">
            <a:off x="8726400" y="23544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视觉识别</a:t>
            </a:r>
          </a:p>
        </p:txBody>
      </p:sp>
      <p:sp>
        <p:nvSpPr>
          <p:cNvPr id="100256" name="C3S1"/>
          <p:cNvSpPr txBox="1"/>
          <p:nvPr/>
        </p:nvSpPr>
        <p:spPr>
          <a:xfrm xmlns:a="http://schemas.openxmlformats.org/drawingml/2006/main">
            <a:off x="8726400" y="25200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OCR · 手写 · 公式 · 版面</a:t>
            </a:r>
          </a:p>
        </p:txBody>
      </p:sp>
      <p:sp>
        <p:nvSpPr>
          <p:cNvPr id="100257" name="C32"/>
          <p:cNvSpPr/>
          <p:nvPr/>
        </p:nvSpPr>
        <p:spPr>
          <a:xfrm xmlns:a="http://schemas.openxmlformats.org/drawingml/2006/main">
            <a:off x="8640000" y="28404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8" name="C3N2"/>
          <p:cNvSpPr txBox="1"/>
          <p:nvPr/>
        </p:nvSpPr>
        <p:spPr>
          <a:xfrm xmlns:a="http://schemas.openxmlformats.org/drawingml/2006/main">
            <a:off x="8726400" y="28980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语音评测</a:t>
            </a:r>
          </a:p>
        </p:txBody>
      </p:sp>
      <p:sp>
        <p:nvSpPr>
          <p:cNvPr id="100259" name="C3S2"/>
          <p:cNvSpPr txBox="1"/>
          <p:nvPr/>
        </p:nvSpPr>
        <p:spPr>
          <a:xfrm xmlns:a="http://schemas.openxmlformats.org/drawingml/2006/main">
            <a:off x="8726400" y="30636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朗读 · 听说训练</a:t>
            </a:r>
          </a:p>
        </p:txBody>
      </p:sp>
      <p:sp>
        <p:nvSpPr>
          <p:cNvPr id="100260" name="C33"/>
          <p:cNvSpPr/>
          <p:nvPr/>
        </p:nvSpPr>
        <p:spPr>
          <a:xfrm xmlns:a="http://schemas.openxmlformats.org/drawingml/2006/main">
            <a:off x="8640000" y="33876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1" name="C3N3"/>
          <p:cNvSpPr txBox="1"/>
          <p:nvPr/>
        </p:nvSpPr>
        <p:spPr>
          <a:xfrm xmlns:a="http://schemas.openxmlformats.org/drawingml/2006/main">
            <a:off x="8726400" y="34452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内容安全审核</a:t>
            </a:r>
          </a:p>
        </p:txBody>
      </p:sp>
      <p:sp>
        <p:nvSpPr>
          <p:cNvPr id="100262" name="C3S3"/>
          <p:cNvSpPr txBox="1"/>
          <p:nvPr/>
        </p:nvSpPr>
        <p:spPr>
          <a:xfrm xmlns:a="http://schemas.openxmlformats.org/drawingml/2006/main">
            <a:off x="8726400" y="36108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涉政 · 涉黄 · 暴恐 · 广告</a:t>
            </a:r>
          </a:p>
        </p:txBody>
      </p:sp>
      <p:sp>
        <p:nvSpPr>
          <p:cNvPr id="100263" name="C34"/>
          <p:cNvSpPr/>
          <p:nvPr/>
        </p:nvSpPr>
        <p:spPr>
          <a:xfrm xmlns:a="http://schemas.openxmlformats.org/drawingml/2006/main">
            <a:off x="8640000" y="39312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4" name="C3N4"/>
          <p:cNvSpPr txBox="1"/>
          <p:nvPr/>
        </p:nvSpPr>
        <p:spPr>
          <a:xfrm xmlns:a="http://schemas.openxmlformats.org/drawingml/2006/main">
            <a:off x="8726400" y="39888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第三方排版打印</a:t>
            </a:r>
          </a:p>
        </p:txBody>
      </p:sp>
      <p:sp>
        <p:nvSpPr>
          <p:cNvPr id="100265" name="C3S4"/>
          <p:cNvSpPr txBox="1"/>
          <p:nvPr/>
        </p:nvSpPr>
        <p:spPr>
          <a:xfrm xmlns:a="http://schemas.openxmlformats.org/drawingml/2006/main">
            <a:off x="8726400" y="41544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出图 · 版式转换</a:t>
            </a:r>
          </a:p>
        </p:txBody>
      </p:sp>
      <p:sp>
        <p:nvSpPr>
          <p:cNvPr id="100266" name="CNote"/>
          <p:cNvSpPr/>
          <p:nvPr/>
        </p:nvSpPr>
        <p:spPr>
          <a:xfrm xmlns:a="http://schemas.openxmlformats.org/drawingml/2006/main">
            <a:off x="8640000" y="4482000"/>
            <a:ext cx="3085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7" name="CNoteD"/>
          <p:cNvSpPr/>
          <p:nvPr/>
        </p:nvSpPr>
        <p:spPr>
          <a:xfrm xmlns:a="http://schemas.openxmlformats.org/drawingml/2006/main">
            <a:off x="8640000" y="4482000"/>
            <a:ext cx="36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8" name="CNoteT"/>
          <p:cNvSpPr txBox="1"/>
          <p:nvPr/>
        </p:nvSpPr>
        <p:spPr>
          <a:xfrm xmlns:a="http://schemas.openxmlformats.org/drawingml/2006/main">
            <a:off x="8748000" y="4528800"/>
            <a:ext cx="2883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3D5A6E"/>
                </a:solidFill>
                <a:latin typeface="Microsoft YaHei"/>
                <a:ea typeface="Microsoft YaHei"/>
              </a:rPr>
              <a:t>统一出口：教学云 AI 网关</a:t>
            </a:r>
          </a:p>
        </p:txBody>
      </p:sp>
      <p:sp>
        <p:nvSpPr>
          <p:cNvPr id="100269" name="CNoteB"/>
          <p:cNvSpPr txBox="1"/>
          <p:nvPr/>
        </p:nvSpPr>
        <p:spPr>
          <a:xfrm xmlns:a="http://schemas.openxmlformats.org/drawingml/2006/main">
            <a:off x="8748000" y="4694400"/>
            <a:ext cx="2883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路由 · 限流 · 计量 · 脱敏 · 失败降级</a:t>
            </a:r>
          </a:p>
        </p:txBody>
      </p:sp>
      <p:cxnSp>
        <p:nvCxnSpPr>
          <p:cNvPr id="100270" name="LK1"/>
          <p:cNvCxnSpPr/>
          <p:nvPr/>
        </p:nvCxnSpPr>
        <p:spPr>
          <a:xfrm xmlns:a="http://schemas.openxmlformats.org/drawingml/2006/main">
            <a:off x="3139200" y="1620000"/>
            <a:ext cx="615600" cy="7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E7D8E"/>
            </a:solidFill>
            <a:headEnd type="none"/>
            <a:tailEnd type="arrow"/>
          </a:ln>
        </p:spPr>
      </p:cxnSp>
      <p:sp>
        <p:nvSpPr>
          <p:cNvPr id="100271" name="M1"/>
          <p:cNvSpPr/>
          <p:nvPr/>
        </p:nvSpPr>
        <p:spPr>
          <a:xfrm xmlns:a="http://schemas.openxmlformats.org/drawingml/2006/main">
            <a:off x="3139200" y="1519200"/>
            <a:ext cx="223200" cy="2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2" name="M1T"/>
          <p:cNvSpPr txBox="1"/>
          <p:nvPr/>
        </p:nvSpPr>
        <p:spPr>
          <a:xfrm xmlns:a="http://schemas.openxmlformats.org/drawingml/2006/main">
            <a:off x="3139200" y="1519200"/>
            <a:ext cx="2232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cxnSp>
        <p:nvCxnSpPr>
          <p:cNvPr id="100273" name="LK2"/>
          <p:cNvCxnSpPr/>
          <p:nvPr/>
        </p:nvCxnSpPr>
        <p:spPr>
          <a:xfrm xmlns:a="http://schemas.openxmlformats.org/drawingml/2006/main">
            <a:off x="3139200" y="4356000"/>
            <a:ext cx="615600" cy="7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C2762D"/>
            </a:solidFill>
            <a:headEnd type="arrow"/>
            <a:tailEnd type="none"/>
          </a:ln>
        </p:spPr>
      </p:cxnSp>
      <p:sp>
        <p:nvSpPr>
          <p:cNvPr id="100274" name="M2"/>
          <p:cNvSpPr/>
          <p:nvPr/>
        </p:nvSpPr>
        <p:spPr>
          <a:xfrm xmlns:a="http://schemas.openxmlformats.org/drawingml/2006/main">
            <a:off x="3139200" y="4255200"/>
            <a:ext cx="223200" cy="2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5" name="M2T"/>
          <p:cNvSpPr txBox="1"/>
          <p:nvPr/>
        </p:nvSpPr>
        <p:spPr>
          <a:xfrm xmlns:a="http://schemas.openxmlformats.org/drawingml/2006/main">
            <a:off x="3139200" y="4255200"/>
            <a:ext cx="2232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100276" name="LK3"/>
          <p:cNvCxnSpPr/>
          <p:nvPr/>
        </p:nvCxnSpPr>
        <p:spPr>
          <a:xfrm xmlns:a="http://schemas.openxmlformats.org/drawingml/2006/main">
            <a:off x="8053200" y="3384000"/>
            <a:ext cx="579600" cy="7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3D5A6E"/>
            </a:solidFill>
            <a:prstDash val="dash"/>
            <a:headEnd type="none"/>
            <a:tailEnd type="arrow"/>
          </a:ln>
        </p:spPr>
      </p:cxnSp>
      <p:sp>
        <p:nvSpPr>
          <p:cNvPr id="100277" name="M3"/>
          <p:cNvSpPr/>
          <p:nvPr/>
        </p:nvSpPr>
        <p:spPr>
          <a:xfrm xmlns:a="http://schemas.openxmlformats.org/drawingml/2006/main">
            <a:off x="8056800" y="3283200"/>
            <a:ext cx="223200" cy="2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8" name="M3T"/>
          <p:cNvSpPr txBox="1"/>
          <p:nvPr/>
        </p:nvSpPr>
        <p:spPr>
          <a:xfrm xmlns:a="http://schemas.openxmlformats.org/drawingml/2006/main">
            <a:off x="8056800" y="3283200"/>
            <a:ext cx="2232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00279" name="CTBar"/>
          <p:cNvSpPr/>
          <p:nvPr/>
        </p:nvSpPr>
        <p:spPr>
          <a:xfrm xmlns:a="http://schemas.openxmlformats.org/drawingml/2006/main">
            <a:off x="468000" y="5076000"/>
            <a:ext cx="5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0" name="CTLabel"/>
          <p:cNvSpPr txBox="1"/>
          <p:nvPr/>
        </p:nvSpPr>
        <p:spPr>
          <a:xfrm xmlns:a="http://schemas.openxmlformats.org/drawingml/2006/main">
            <a:off x="583200" y="5076000"/>
            <a:ext cx="2268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1100" b="1">
                <a:solidFill>
                  <a:srgbClr val="1B3A5C"/>
                </a:solidFill>
                <a:latin typeface="Microsoft YaHei"/>
                <a:ea typeface="Microsoft YaHei"/>
              </a:rPr>
              <a:t>集成契约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100" b="1">
                <a:solidFill>
                  <a:srgbClr val="1B3A5C"/>
                </a:solidFill>
                <a:latin typeface="Microsoft YaHei"/>
                <a:ea typeface="Microsoft YaHei"/>
              </a:rPr>
              <a:t>四条边界</a:t>
            </a:r>
          </a:p>
        </p:txBody>
      </p:sp>
      <p:sp>
        <p:nvSpPr>
          <p:cNvPr id="100281" name="CT0"/>
          <p:cNvSpPr/>
          <p:nvPr/>
        </p:nvSpPr>
        <p:spPr>
          <a:xfrm xmlns:a="http://schemas.openxmlformats.org/drawingml/2006/main">
            <a:off x="2952000" y="5076000"/>
            <a:ext cx="207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2" name="CTD0"/>
          <p:cNvSpPr/>
          <p:nvPr/>
        </p:nvSpPr>
        <p:spPr>
          <a:xfrm xmlns:a="http://schemas.openxmlformats.org/drawingml/2006/main">
            <a:off x="2952000" y="5076000"/>
            <a:ext cx="207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3" name="CTN0"/>
          <p:cNvSpPr txBox="1"/>
          <p:nvPr/>
        </p:nvSpPr>
        <p:spPr>
          <a:xfrm xmlns:a="http://schemas.openxmlformats.org/drawingml/2006/main">
            <a:off x="3024000" y="5133600"/>
            <a:ext cx="1926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E7D8E"/>
                </a:solidFill>
                <a:latin typeface="Microsoft YaHei"/>
                <a:ea typeface="Microsoft YaHei"/>
              </a:rPr>
              <a:t>1　主数据单向同步</a:t>
            </a:r>
          </a:p>
        </p:txBody>
      </p:sp>
      <p:sp>
        <p:nvSpPr>
          <p:cNvPr id="100284" name="CTB0"/>
          <p:cNvSpPr txBox="1"/>
          <p:nvPr/>
        </p:nvSpPr>
        <p:spPr>
          <a:xfrm xmlns:a="http://schemas.openxmlformats.org/drawingml/2006/main">
            <a:off x="3024000" y="5313600"/>
            <a:ext cx="1926000" cy="5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校管家 → 教学云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增量游标拉取 + 每日全量对账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冲突一律以校管家为准</a:t>
            </a:r>
          </a:p>
        </p:txBody>
      </p:sp>
      <p:sp>
        <p:nvSpPr>
          <p:cNvPr id="100285" name="CT1"/>
          <p:cNvSpPr/>
          <p:nvPr/>
        </p:nvSpPr>
        <p:spPr>
          <a:xfrm xmlns:a="http://schemas.openxmlformats.org/drawingml/2006/main">
            <a:off x="5187600" y="5076000"/>
            <a:ext cx="207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6" name="CTD1"/>
          <p:cNvSpPr/>
          <p:nvPr/>
        </p:nvSpPr>
        <p:spPr>
          <a:xfrm xmlns:a="http://schemas.openxmlformats.org/drawingml/2006/main">
            <a:off x="5187600" y="5076000"/>
            <a:ext cx="207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7" name="CTN1"/>
          <p:cNvSpPr txBox="1"/>
          <p:nvPr/>
        </p:nvSpPr>
        <p:spPr>
          <a:xfrm xmlns:a="http://schemas.openxmlformats.org/drawingml/2006/main">
            <a:off x="5259600" y="5133600"/>
            <a:ext cx="1926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C2762D"/>
                </a:solidFill>
                <a:latin typeface="Microsoft YaHei"/>
                <a:ea typeface="Microsoft YaHei"/>
              </a:rPr>
              <a:t>2　内容与学情回传</a:t>
            </a:r>
          </a:p>
        </p:txBody>
      </p:sp>
      <p:sp>
        <p:nvSpPr>
          <p:cNvPr id="100288" name="CTB1"/>
          <p:cNvSpPr txBox="1"/>
          <p:nvPr/>
        </p:nvSpPr>
        <p:spPr>
          <a:xfrm xmlns:a="http://schemas.openxmlformats.org/drawingml/2006/main">
            <a:off x="5259600" y="5313600"/>
            <a:ext cx="1926000" cy="5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教学云 → 校管家内嵌模块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幂等键 = 业务主键 + 租户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失败重试并落补偿任务</a:t>
            </a:r>
          </a:p>
        </p:txBody>
      </p:sp>
      <p:sp>
        <p:nvSpPr>
          <p:cNvPr id="100289" name="CT2"/>
          <p:cNvSpPr/>
          <p:nvPr/>
        </p:nvSpPr>
        <p:spPr>
          <a:xfrm xmlns:a="http://schemas.openxmlformats.org/drawingml/2006/main">
            <a:off x="7419600" y="5076000"/>
            <a:ext cx="207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0" name="CTD2"/>
          <p:cNvSpPr/>
          <p:nvPr/>
        </p:nvSpPr>
        <p:spPr>
          <a:xfrm xmlns:a="http://schemas.openxmlformats.org/drawingml/2006/main">
            <a:off x="7419600" y="5076000"/>
            <a:ext cx="207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1" name="CTN2"/>
          <p:cNvSpPr txBox="1"/>
          <p:nvPr/>
        </p:nvSpPr>
        <p:spPr>
          <a:xfrm xmlns:a="http://schemas.openxmlformats.org/drawingml/2006/main">
            <a:off x="7491600" y="5133600"/>
            <a:ext cx="1926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3D5A6E"/>
                </a:solidFill>
                <a:latin typeface="Microsoft YaHei"/>
                <a:ea typeface="Microsoft YaHei"/>
              </a:rPr>
              <a:t>3　AI 能力统一出口</a:t>
            </a:r>
          </a:p>
        </p:txBody>
      </p:sp>
      <p:sp>
        <p:nvSpPr>
          <p:cNvPr id="100292" name="CTB2"/>
          <p:cNvSpPr txBox="1"/>
          <p:nvPr/>
        </p:nvSpPr>
        <p:spPr>
          <a:xfrm xmlns:a="http://schemas.openxmlformats.org/drawingml/2006/main">
            <a:off x="7491600" y="5313600"/>
            <a:ext cx="1926000" cy="5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教学云 ↔ AI 平台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只走 AI 网关，不直连供应商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出域前脱敏，超时降级</a:t>
            </a:r>
          </a:p>
        </p:txBody>
      </p:sp>
      <p:sp>
        <p:nvSpPr>
          <p:cNvPr id="100293" name="CT3"/>
          <p:cNvSpPr/>
          <p:nvPr/>
        </p:nvSpPr>
        <p:spPr>
          <a:xfrm xmlns:a="http://schemas.openxmlformats.org/drawingml/2006/main">
            <a:off x="9651600" y="5076000"/>
            <a:ext cx="207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4" name="CTD3"/>
          <p:cNvSpPr/>
          <p:nvPr/>
        </p:nvSpPr>
        <p:spPr>
          <a:xfrm xmlns:a="http://schemas.openxmlformats.org/drawingml/2006/main">
            <a:off x="9651600" y="5076000"/>
            <a:ext cx="207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5" name="CTN3"/>
          <p:cNvSpPr txBox="1"/>
          <p:nvPr/>
        </p:nvSpPr>
        <p:spPr>
          <a:xfrm xmlns:a="http://schemas.openxmlformats.org/drawingml/2006/main">
            <a:off x="9723600" y="5133600"/>
            <a:ext cx="1926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1B3A5C"/>
                </a:solidFill>
                <a:latin typeface="Microsoft YaHei"/>
                <a:ea typeface="Microsoft YaHei"/>
              </a:rPr>
              <a:t>4　终端零新增安装</a:t>
            </a:r>
          </a:p>
        </p:txBody>
      </p:sp>
      <p:sp>
        <p:nvSpPr>
          <p:cNvPr id="100296" name="CTB3"/>
          <p:cNvSpPr txBox="1"/>
          <p:nvPr/>
        </p:nvSpPr>
        <p:spPr>
          <a:xfrm xmlns:a="http://schemas.openxmlformats.org/drawingml/2006/main">
            <a:off x="9723600" y="5313600"/>
            <a:ext cx="1926000" cy="5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用户 → 校管家容器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新增功能模块，不新建 App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鉴权沿用校管家身份</a:t>
            </a:r>
          </a:p>
        </p:txBody>
      </p:sp>
      <p:sp>
        <p:nvSpPr>
          <p:cNvPr id="100297" name="F2"/>
          <p:cNvSpPr txBox="1"/>
          <p:nvPr/>
        </p:nvSpPr>
        <p:spPr>
          <a:xfrm xmlns:a="http://schemas.openxmlformats.org/drawingml/2006/main">
            <a:off x="468000" y="6328800"/>
            <a:ext cx="792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教学云AI 平台　产品架构图</a:t>
            </a:r>
          </a:p>
        </p:txBody>
      </p:sp>
      <p:sp>
        <p:nvSpPr>
          <p:cNvPr id="100298" name="P2"/>
          <p:cNvSpPr txBox="1"/>
          <p:nvPr/>
        </p:nvSpPr>
        <p:spPr>
          <a:xfrm xmlns:a="http://schemas.openxmlformats.org/drawingml/2006/main">
            <a:off x="9565200" y="6328800"/>
            <a:ext cx="216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资源数据流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99" name="H3Bar"/>
          <p:cNvSpPr/>
          <p:nvPr/>
        </p:nvSpPr>
        <p:spPr>
          <a:xfrm xmlns:a="http://schemas.openxmlformats.org/drawingml/2006/main">
            <a:off x="468000" y="309600"/>
            <a:ext cx="5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0" name="H3T"/>
          <p:cNvSpPr txBox="1"/>
          <p:nvPr/>
        </p:nvSpPr>
        <p:spPr>
          <a:xfrm xmlns:a="http://schemas.openxmlformats.org/drawingml/2006/main">
            <a:off x="612000" y="259200"/>
            <a:ext cx="1096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3100" b="1">
                <a:solidFill>
                  <a:srgbClr val="1B3A5C"/>
                </a:solidFill>
                <a:latin typeface="Microsoft YaHei"/>
                <a:ea typeface="Microsoft YaHei"/>
              </a:rPr>
              <a:t>资源数据流：从采集到学情回流的主链路</a:t>
            </a:r>
          </a:p>
        </p:txBody>
      </p:sp>
      <p:sp>
        <p:nvSpPr>
          <p:cNvPr id="100301" name="H3S"/>
          <p:cNvSpPr txBox="1"/>
          <p:nvPr/>
        </p:nvSpPr>
        <p:spPr>
          <a:xfrm xmlns:a="http://schemas.openxmlformats.org/drawingml/2006/main">
            <a:off x="612000" y="813600"/>
            <a:ext cx="109692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6B8399"/>
                </a:solidFill>
                <a:latin typeface="Microsoft YaHei"/>
                <a:ea typeface="Microsoft YaHei"/>
              </a:rPr>
              <a:t>六段主链路串起「进得来、看得懂、管得住、用得上、回得去」；每段标注责任端与落库位置</a:t>
            </a:r>
          </a:p>
        </p:txBody>
      </p:sp>
      <p:sp>
        <p:nvSpPr>
          <p:cNvPr id="100302" name="ST0"/>
          <p:cNvSpPr/>
          <p:nvPr/>
        </p:nvSpPr>
        <p:spPr>
          <a:xfrm xmlns:a="http://schemas.openxmlformats.org/drawingml/2006/main">
            <a:off x="4680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3" name="STD0"/>
          <p:cNvSpPr/>
          <p:nvPr/>
        </p:nvSpPr>
        <p:spPr>
          <a:xfrm xmlns:a="http://schemas.openxmlformats.org/drawingml/2006/main">
            <a:off x="4680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4" name="STNo0"/>
          <p:cNvSpPr txBox="1"/>
          <p:nvPr/>
        </p:nvSpPr>
        <p:spPr>
          <a:xfrm xmlns:a="http://schemas.openxmlformats.org/drawingml/2006/main">
            <a:off x="5472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305" name="STN0"/>
          <p:cNvSpPr txBox="1"/>
          <p:nvPr/>
        </p:nvSpPr>
        <p:spPr>
          <a:xfrm xmlns:a="http://schemas.openxmlformats.org/drawingml/2006/main">
            <a:off x="5472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1B3A5C"/>
                </a:solidFill>
                <a:latin typeface="Microsoft YaHei"/>
                <a:ea typeface="Microsoft YaHei"/>
              </a:rPr>
              <a:t>采集接入</a:t>
            </a:r>
          </a:p>
        </p:txBody>
      </p:sp>
      <p:sp>
        <p:nvSpPr>
          <p:cNvPr id="100306" name="STO0"/>
          <p:cNvSpPr txBox="1"/>
          <p:nvPr/>
        </p:nvSpPr>
        <p:spPr>
          <a:xfrm xmlns:a="http://schemas.openxmlformats.org/drawingml/2006/main">
            <a:off x="5472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教师 · 平台 · 采购</a:t>
            </a:r>
          </a:p>
        </p:txBody>
      </p:sp>
      <p:sp>
        <p:nvSpPr>
          <p:cNvPr id="100307" name="STB0"/>
          <p:cNvSpPr txBox="1"/>
          <p:nvPr/>
        </p:nvSpPr>
        <p:spPr>
          <a:xfrm xmlns:a="http://schemas.openxmlformats.org/drawingml/2006/main">
            <a:off x="5472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手工录题 / 批量导入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图片识题 · 拍原卷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Word / PDF 整卷导入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AI 生成题与试卷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平台下发 · 教辅采购</a:t>
            </a:r>
          </a:p>
        </p:txBody>
      </p:sp>
      <p:sp>
        <p:nvSpPr>
          <p:cNvPr id="100308" name="STF0"/>
          <p:cNvSpPr/>
          <p:nvPr/>
        </p:nvSpPr>
        <p:spPr>
          <a:xfrm xmlns:a="http://schemas.openxmlformats.org/drawingml/2006/main">
            <a:off x="5472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9" name="STFT0"/>
          <p:cNvSpPr txBox="1"/>
          <p:nvPr/>
        </p:nvSpPr>
        <p:spPr>
          <a:xfrm xmlns:a="http://schemas.openxmlformats.org/drawingml/2006/main">
            <a:off x="5472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落库：原文件 → 对象存储</a:t>
            </a:r>
          </a:p>
        </p:txBody>
      </p:sp>
      <p:sp>
        <p:nvSpPr>
          <p:cNvPr id="100310" name="ST1"/>
          <p:cNvSpPr/>
          <p:nvPr/>
        </p:nvSpPr>
        <p:spPr>
          <a:xfrm xmlns:a="http://schemas.openxmlformats.org/drawingml/2006/main">
            <a:off x="23760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1" name="STD1"/>
          <p:cNvSpPr/>
          <p:nvPr/>
        </p:nvSpPr>
        <p:spPr>
          <a:xfrm xmlns:a="http://schemas.openxmlformats.org/drawingml/2006/main">
            <a:off x="23760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2" name="STNo1"/>
          <p:cNvSpPr txBox="1"/>
          <p:nvPr/>
        </p:nvSpPr>
        <p:spPr>
          <a:xfrm xmlns:a="http://schemas.openxmlformats.org/drawingml/2006/main">
            <a:off x="24552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313" name="STN1"/>
          <p:cNvSpPr txBox="1"/>
          <p:nvPr/>
        </p:nvSpPr>
        <p:spPr>
          <a:xfrm xmlns:a="http://schemas.openxmlformats.org/drawingml/2006/main">
            <a:off x="24552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3D5A6E"/>
                </a:solidFill>
                <a:latin typeface="Microsoft YaHei"/>
                <a:ea typeface="Microsoft YaHei"/>
              </a:rPr>
              <a:t>解析结构化</a:t>
            </a:r>
          </a:p>
        </p:txBody>
      </p:sp>
      <p:sp>
        <p:nvSpPr>
          <p:cNvPr id="100314" name="STO1"/>
          <p:cNvSpPr txBox="1"/>
          <p:nvPr/>
        </p:nvSpPr>
        <p:spPr>
          <a:xfrm xmlns:a="http://schemas.openxmlformats.org/drawingml/2006/main">
            <a:off x="24552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平台能力层</a:t>
            </a:r>
          </a:p>
        </p:txBody>
      </p:sp>
      <p:sp>
        <p:nvSpPr>
          <p:cNvPr id="100315" name="STB1"/>
          <p:cNvSpPr txBox="1"/>
          <p:nvPr/>
        </p:nvSpPr>
        <p:spPr>
          <a:xfrm xmlns:a="http://schemas.openxmlformats.org/drawingml/2006/main">
            <a:off x="24552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切题分页 · 版面还原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公式与图表识别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知识点 / 章节标注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题型 · 难度 · 层级归一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查重与重复题提示</a:t>
            </a:r>
          </a:p>
        </p:txBody>
      </p:sp>
      <p:sp>
        <p:nvSpPr>
          <p:cNvPr id="100316" name="STF1"/>
          <p:cNvSpPr/>
          <p:nvPr/>
        </p:nvSpPr>
        <p:spPr>
          <a:xfrm xmlns:a="http://schemas.openxmlformats.org/drawingml/2006/main">
            <a:off x="24552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7" name="STFT1"/>
          <p:cNvSpPr txBox="1"/>
          <p:nvPr/>
        </p:nvSpPr>
        <p:spPr>
          <a:xfrm xmlns:a="http://schemas.openxmlformats.org/drawingml/2006/main">
            <a:off x="24552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落库：结构化资源</a:t>
            </a:r>
          </a:p>
        </p:txBody>
      </p:sp>
      <p:sp>
        <p:nvSpPr>
          <p:cNvPr id="100318" name="ST2"/>
          <p:cNvSpPr/>
          <p:nvPr/>
        </p:nvSpPr>
        <p:spPr>
          <a:xfrm xmlns:a="http://schemas.openxmlformats.org/drawingml/2006/main">
            <a:off x="42876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9" name="STD2"/>
          <p:cNvSpPr/>
          <p:nvPr/>
        </p:nvSpPr>
        <p:spPr>
          <a:xfrm xmlns:a="http://schemas.openxmlformats.org/drawingml/2006/main">
            <a:off x="42876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0" name="STNo2"/>
          <p:cNvSpPr txBox="1"/>
          <p:nvPr/>
        </p:nvSpPr>
        <p:spPr>
          <a:xfrm xmlns:a="http://schemas.openxmlformats.org/drawingml/2006/main">
            <a:off x="43668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321" name="STN2"/>
          <p:cNvSpPr txBox="1"/>
          <p:nvPr/>
        </p:nvSpPr>
        <p:spPr>
          <a:xfrm xmlns:a="http://schemas.openxmlformats.org/drawingml/2006/main">
            <a:off x="43668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C2762D"/>
                </a:solidFill>
                <a:latin typeface="Microsoft YaHei"/>
                <a:ea typeface="Microsoft YaHei"/>
              </a:rPr>
              <a:t>归属与审核</a:t>
            </a:r>
          </a:p>
        </p:txBody>
      </p:sp>
      <p:sp>
        <p:nvSpPr>
          <p:cNvPr id="100322" name="STO2"/>
          <p:cNvSpPr txBox="1"/>
          <p:nvPr/>
        </p:nvSpPr>
        <p:spPr>
          <a:xfrm xmlns:a="http://schemas.openxmlformats.org/drawingml/2006/main">
            <a:off x="43668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机构 · 平台</a:t>
            </a:r>
          </a:p>
        </p:txBody>
      </p:sp>
      <p:sp>
        <p:nvSpPr>
          <p:cNvPr id="100323" name="STB2"/>
          <p:cNvSpPr txBox="1"/>
          <p:nvPr/>
        </p:nvSpPr>
        <p:spPr>
          <a:xfrm xmlns:a="http://schemas.openxmlformats.org/drawingml/2006/main">
            <a:off x="43668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三档：平台 / 校本 / 个人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个人内容免审直出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提审校本走审批流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双入口同一张单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下发由内容专家终审</a:t>
            </a:r>
          </a:p>
        </p:txBody>
      </p:sp>
      <p:sp>
        <p:nvSpPr>
          <p:cNvPr id="100324" name="STF2"/>
          <p:cNvSpPr/>
          <p:nvPr/>
        </p:nvSpPr>
        <p:spPr>
          <a:xfrm xmlns:a="http://schemas.openxmlformats.org/drawingml/2006/main">
            <a:off x="43668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5" name="STFT2"/>
          <p:cNvSpPr txBox="1"/>
          <p:nvPr/>
        </p:nvSpPr>
        <p:spPr>
          <a:xfrm xmlns:a="http://schemas.openxmlformats.org/drawingml/2006/main">
            <a:off x="43668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状态：draft → approved</a:t>
            </a:r>
          </a:p>
        </p:txBody>
      </p:sp>
      <p:sp>
        <p:nvSpPr>
          <p:cNvPr id="100326" name="ST3"/>
          <p:cNvSpPr/>
          <p:nvPr/>
        </p:nvSpPr>
        <p:spPr>
          <a:xfrm xmlns:a="http://schemas.openxmlformats.org/drawingml/2006/main">
            <a:off x="61956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7" name="STD3"/>
          <p:cNvSpPr/>
          <p:nvPr/>
        </p:nvSpPr>
        <p:spPr>
          <a:xfrm xmlns:a="http://schemas.openxmlformats.org/drawingml/2006/main">
            <a:off x="61956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8" name="STNo3"/>
          <p:cNvSpPr txBox="1"/>
          <p:nvPr/>
        </p:nvSpPr>
        <p:spPr>
          <a:xfrm xmlns:a="http://schemas.openxmlformats.org/drawingml/2006/main">
            <a:off x="62748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0329" name="STN3"/>
          <p:cNvSpPr txBox="1"/>
          <p:nvPr/>
        </p:nvSpPr>
        <p:spPr>
          <a:xfrm xmlns:a="http://schemas.openxmlformats.org/drawingml/2006/main">
            <a:off x="62748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2E7D8E"/>
                </a:solidFill>
                <a:latin typeface="Microsoft YaHei"/>
                <a:ea typeface="Microsoft YaHei"/>
              </a:rPr>
              <a:t>资源入库</a:t>
            </a:r>
          </a:p>
        </p:txBody>
      </p:sp>
      <p:sp>
        <p:nvSpPr>
          <p:cNvPr id="100330" name="STO3"/>
          <p:cNvSpPr txBox="1"/>
          <p:nvPr/>
        </p:nvSpPr>
        <p:spPr>
          <a:xfrm xmlns:a="http://schemas.openxmlformats.org/drawingml/2006/main">
            <a:off x="62748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资源中心</a:t>
            </a:r>
          </a:p>
        </p:txBody>
      </p:sp>
      <p:sp>
        <p:nvSpPr>
          <p:cNvPr id="100331" name="STB3"/>
          <p:cNvSpPr txBox="1"/>
          <p:nvPr/>
        </p:nvSpPr>
        <p:spPr>
          <a:xfrm xmlns:a="http://schemas.openxmlformats.org/drawingml/2006/main">
            <a:off x="62748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题库 · 试卷 · 课件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教辅 · 公式 · 广场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版本与引用关系留痕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软删除 + 回收站恢复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被引用禁物理删除</a:t>
            </a:r>
          </a:p>
        </p:txBody>
      </p:sp>
      <p:sp>
        <p:nvSpPr>
          <p:cNvPr id="100332" name="STF3"/>
          <p:cNvSpPr/>
          <p:nvPr/>
        </p:nvSpPr>
        <p:spPr>
          <a:xfrm xmlns:a="http://schemas.openxmlformats.org/drawingml/2006/main">
            <a:off x="62748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33" name="STFT3"/>
          <p:cNvSpPr txBox="1"/>
          <p:nvPr/>
        </p:nvSpPr>
        <p:spPr>
          <a:xfrm xmlns:a="http://schemas.openxmlformats.org/drawingml/2006/main">
            <a:off x="62748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落库：资源主表 + 引用表</a:t>
            </a:r>
          </a:p>
        </p:txBody>
      </p:sp>
      <p:sp>
        <p:nvSpPr>
          <p:cNvPr id="100334" name="ST4"/>
          <p:cNvSpPr/>
          <p:nvPr/>
        </p:nvSpPr>
        <p:spPr>
          <a:xfrm xmlns:a="http://schemas.openxmlformats.org/drawingml/2006/main">
            <a:off x="81036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35" name="STD4"/>
          <p:cNvSpPr/>
          <p:nvPr/>
        </p:nvSpPr>
        <p:spPr>
          <a:xfrm xmlns:a="http://schemas.openxmlformats.org/drawingml/2006/main">
            <a:off x="81036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36" name="STNo4"/>
          <p:cNvSpPr txBox="1"/>
          <p:nvPr/>
        </p:nvSpPr>
        <p:spPr>
          <a:xfrm xmlns:a="http://schemas.openxmlformats.org/drawingml/2006/main">
            <a:off x="81828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00337" name="STN4"/>
          <p:cNvSpPr txBox="1"/>
          <p:nvPr/>
        </p:nvSpPr>
        <p:spPr>
          <a:xfrm xmlns:a="http://schemas.openxmlformats.org/drawingml/2006/main">
            <a:off x="81828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1B3A5C"/>
                </a:solidFill>
                <a:latin typeface="Microsoft YaHei"/>
                <a:ea typeface="Microsoft YaHei"/>
              </a:rPr>
              <a:t>消费使用</a:t>
            </a:r>
          </a:p>
        </p:txBody>
      </p:sp>
      <p:sp>
        <p:nvSpPr>
          <p:cNvPr id="100338" name="STO4"/>
          <p:cNvSpPr txBox="1"/>
          <p:nvPr/>
        </p:nvSpPr>
        <p:spPr>
          <a:xfrm xmlns:a="http://schemas.openxmlformats.org/drawingml/2006/main">
            <a:off x="81828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教师 · 家长 · 学生</a:t>
            </a:r>
          </a:p>
        </p:txBody>
      </p:sp>
      <p:sp>
        <p:nvSpPr>
          <p:cNvPr id="100339" name="STB4"/>
          <p:cNvSpPr txBox="1"/>
          <p:nvPr/>
        </p:nvSpPr>
        <p:spPr>
          <a:xfrm xmlns:a="http://schemas.openxmlformats.org/drawingml/2006/main">
            <a:off x="81828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组卷 · 备课 · 作业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考试阅卷 · 判分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家长看试卷与成绩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学生提交作业答卷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打印出图 · 分享链接</a:t>
            </a:r>
          </a:p>
        </p:txBody>
      </p:sp>
      <p:sp>
        <p:nvSpPr>
          <p:cNvPr id="100340" name="STF4"/>
          <p:cNvSpPr/>
          <p:nvPr/>
        </p:nvSpPr>
        <p:spPr>
          <a:xfrm xmlns:a="http://schemas.openxmlformats.org/drawingml/2006/main">
            <a:off x="81828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41" name="STFT4"/>
          <p:cNvSpPr txBox="1"/>
          <p:nvPr/>
        </p:nvSpPr>
        <p:spPr>
          <a:xfrm xmlns:a="http://schemas.openxmlformats.org/drawingml/2006/main">
            <a:off x="81828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产出：作答与判分数据</a:t>
            </a:r>
          </a:p>
        </p:txBody>
      </p:sp>
      <p:sp>
        <p:nvSpPr>
          <p:cNvPr id="100342" name="ST5"/>
          <p:cNvSpPr/>
          <p:nvPr/>
        </p:nvSpPr>
        <p:spPr>
          <a:xfrm xmlns:a="http://schemas.openxmlformats.org/drawingml/2006/main">
            <a:off x="100152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43" name="STD5"/>
          <p:cNvSpPr/>
          <p:nvPr/>
        </p:nvSpPr>
        <p:spPr>
          <a:xfrm xmlns:a="http://schemas.openxmlformats.org/drawingml/2006/main">
            <a:off x="100152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44" name="STNo5"/>
          <p:cNvSpPr txBox="1"/>
          <p:nvPr/>
        </p:nvSpPr>
        <p:spPr>
          <a:xfrm xmlns:a="http://schemas.openxmlformats.org/drawingml/2006/main">
            <a:off x="100944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00345" name="STN5"/>
          <p:cNvSpPr txBox="1"/>
          <p:nvPr/>
        </p:nvSpPr>
        <p:spPr>
          <a:xfrm xmlns:a="http://schemas.openxmlformats.org/drawingml/2006/main">
            <a:off x="100944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3D5A6E"/>
                </a:solidFill>
                <a:latin typeface="Microsoft YaHei"/>
                <a:ea typeface="Microsoft YaHei"/>
              </a:rPr>
              <a:t>学情回流</a:t>
            </a:r>
          </a:p>
        </p:txBody>
      </p:sp>
      <p:sp>
        <p:nvSpPr>
          <p:cNvPr id="100346" name="STO5"/>
          <p:cNvSpPr txBox="1"/>
          <p:nvPr/>
        </p:nvSpPr>
        <p:spPr>
          <a:xfrm xmlns:a="http://schemas.openxmlformats.org/drawingml/2006/main">
            <a:off x="100944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分析层</a:t>
            </a:r>
          </a:p>
        </p:txBody>
      </p:sp>
      <p:sp>
        <p:nvSpPr>
          <p:cNvPr id="100347" name="STB5"/>
          <p:cNvSpPr txBox="1"/>
          <p:nvPr/>
        </p:nvSpPr>
        <p:spPr>
          <a:xfrm xmlns:a="http://schemas.openxmlformats.org/drawingml/2006/main">
            <a:off x="100944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作答明细 → 错题归集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知识点掌握度计算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班级 / 个人报告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报告推送家长端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薄弱点标签回写</a:t>
            </a:r>
          </a:p>
        </p:txBody>
      </p:sp>
      <p:sp>
        <p:nvSpPr>
          <p:cNvPr id="100348" name="STF5"/>
          <p:cNvSpPr/>
          <p:nvPr/>
        </p:nvSpPr>
        <p:spPr>
          <a:xfrm xmlns:a="http://schemas.openxmlformats.org/drawingml/2006/main">
            <a:off x="100944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49" name="STFT5"/>
          <p:cNvSpPr txBox="1"/>
          <p:nvPr/>
        </p:nvSpPr>
        <p:spPr>
          <a:xfrm xmlns:a="http://schemas.openxmlformats.org/drawingml/2006/main">
            <a:off x="100944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去向：驱动下一轮组卷</a:t>
            </a:r>
          </a:p>
        </p:txBody>
      </p:sp>
      <p:cxnSp>
        <p:nvCxnSpPr>
          <p:cNvPr id="100350" name="SA0"/>
          <p:cNvCxnSpPr/>
          <p:nvPr/>
        </p:nvCxnSpPr>
        <p:spPr>
          <a:xfrm xmlns:a="http://schemas.openxmlformats.org/drawingml/2006/main">
            <a:off x="22068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cxnSp>
        <p:nvCxnSpPr>
          <p:cNvPr id="100351" name="SA1"/>
          <p:cNvCxnSpPr/>
          <p:nvPr/>
        </p:nvCxnSpPr>
        <p:spPr>
          <a:xfrm xmlns:a="http://schemas.openxmlformats.org/drawingml/2006/main">
            <a:off x="41184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cxnSp>
        <p:nvCxnSpPr>
          <p:cNvPr id="100352" name="SA2"/>
          <p:cNvCxnSpPr/>
          <p:nvPr/>
        </p:nvCxnSpPr>
        <p:spPr>
          <a:xfrm xmlns:a="http://schemas.openxmlformats.org/drawingml/2006/main">
            <a:off x="60264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cxnSp>
        <p:nvCxnSpPr>
          <p:cNvPr id="100353" name="SA3"/>
          <p:cNvCxnSpPr/>
          <p:nvPr/>
        </p:nvCxnSpPr>
        <p:spPr>
          <a:xfrm xmlns:a="http://schemas.openxmlformats.org/drawingml/2006/main">
            <a:off x="79344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cxnSp>
        <p:nvCxnSpPr>
          <p:cNvPr id="100354" name="SA4"/>
          <p:cNvCxnSpPr/>
          <p:nvPr/>
        </p:nvCxnSpPr>
        <p:spPr>
          <a:xfrm xmlns:a="http://schemas.openxmlformats.org/drawingml/2006/main">
            <a:off x="98460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sp>
        <p:nvSpPr>
          <p:cNvPr id="100355" name="LayTag"/>
          <p:cNvSpPr txBox="1"/>
          <p:nvPr/>
        </p:nvSpPr>
        <p:spPr>
          <a:xfrm xmlns:a="http://schemas.openxmlformats.org/drawingml/2006/main">
            <a:off x="468000" y="3052800"/>
            <a:ext cx="882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>
                <a:solidFill>
                  <a:srgbClr val="1B3A5C"/>
                </a:solidFill>
                <a:latin typeface="Microsoft YaHei"/>
                <a:ea typeface="Microsoft YaHei"/>
              </a:rPr>
              <a:t>数据分层</a:t>
            </a:r>
          </a:p>
        </p:txBody>
      </p:sp>
      <p:sp>
        <p:nvSpPr>
          <p:cNvPr id="100356" name="LY0"/>
          <p:cNvSpPr/>
          <p:nvPr/>
        </p:nvSpPr>
        <p:spPr>
          <a:xfrm xmlns:a="http://schemas.openxmlformats.org/drawingml/2006/main">
            <a:off x="1404000" y="3052800"/>
            <a:ext cx="24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57" name="LYD0"/>
          <p:cNvSpPr/>
          <p:nvPr/>
        </p:nvSpPr>
        <p:spPr>
          <a:xfrm xmlns:a="http://schemas.openxmlformats.org/drawingml/2006/main">
            <a:off x="1404000" y="3052800"/>
            <a:ext cx="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58" name="LYN0"/>
          <p:cNvSpPr txBox="1"/>
          <p:nvPr/>
        </p:nvSpPr>
        <p:spPr>
          <a:xfrm xmlns:a="http://schemas.openxmlformats.org/drawingml/2006/main">
            <a:off x="1497600" y="3103200"/>
            <a:ext cx="2318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4E6B7E"/>
                </a:solidFill>
                <a:latin typeface="Microsoft YaHei"/>
                <a:ea typeface="Microsoft YaHei"/>
              </a:rPr>
              <a:t>原始文件层</a:t>
            </a:r>
          </a:p>
        </p:txBody>
      </p:sp>
      <p:sp>
        <p:nvSpPr>
          <p:cNvPr id="100359" name="LYS0"/>
          <p:cNvSpPr txBox="1"/>
          <p:nvPr/>
        </p:nvSpPr>
        <p:spPr>
          <a:xfrm xmlns:a="http://schemas.openxmlformats.org/drawingml/2006/main">
            <a:off x="1497600" y="3261600"/>
            <a:ext cx="2318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原卷 · 答题卡 · 作业照片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对象存储｜只追加不可变</a:t>
            </a:r>
          </a:p>
        </p:txBody>
      </p:sp>
      <p:sp>
        <p:nvSpPr>
          <p:cNvPr id="100360" name="LY1"/>
          <p:cNvSpPr/>
          <p:nvPr/>
        </p:nvSpPr>
        <p:spPr>
          <a:xfrm xmlns:a="http://schemas.openxmlformats.org/drawingml/2006/main">
            <a:off x="4014000" y="3052800"/>
            <a:ext cx="24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1" name="LYD1"/>
          <p:cNvSpPr/>
          <p:nvPr/>
        </p:nvSpPr>
        <p:spPr>
          <a:xfrm xmlns:a="http://schemas.openxmlformats.org/drawingml/2006/main">
            <a:off x="4014000" y="3052800"/>
            <a:ext cx="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2" name="LYN1"/>
          <p:cNvSpPr txBox="1"/>
          <p:nvPr/>
        </p:nvSpPr>
        <p:spPr>
          <a:xfrm xmlns:a="http://schemas.openxmlformats.org/drawingml/2006/main">
            <a:off x="4107600" y="3103200"/>
            <a:ext cx="2318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4E6B7E"/>
                </a:solidFill>
                <a:latin typeface="Microsoft YaHei"/>
                <a:ea typeface="Microsoft YaHei"/>
              </a:rPr>
              <a:t>结构化资源层</a:t>
            </a:r>
          </a:p>
        </p:txBody>
      </p:sp>
      <p:sp>
        <p:nvSpPr>
          <p:cNvPr id="100363" name="LYS1"/>
          <p:cNvSpPr txBox="1"/>
          <p:nvPr/>
        </p:nvSpPr>
        <p:spPr>
          <a:xfrm xmlns:a="http://schemas.openxmlformats.org/drawingml/2006/main">
            <a:off x="4107600" y="3261600"/>
            <a:ext cx="2318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题目 · 试卷 · 知识点标注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可检索 · 可组卷 · 有版本</a:t>
            </a:r>
          </a:p>
        </p:txBody>
      </p:sp>
      <p:sp>
        <p:nvSpPr>
          <p:cNvPr id="100364" name="LY2"/>
          <p:cNvSpPr/>
          <p:nvPr/>
        </p:nvSpPr>
        <p:spPr>
          <a:xfrm xmlns:a="http://schemas.openxmlformats.org/drawingml/2006/main">
            <a:off x="6627600" y="3052800"/>
            <a:ext cx="24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5" name="LYD2"/>
          <p:cNvSpPr/>
          <p:nvPr/>
        </p:nvSpPr>
        <p:spPr>
          <a:xfrm xmlns:a="http://schemas.openxmlformats.org/drawingml/2006/main">
            <a:off x="6627600" y="3052800"/>
            <a:ext cx="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6" name="LYN2"/>
          <p:cNvSpPr txBox="1"/>
          <p:nvPr/>
        </p:nvSpPr>
        <p:spPr>
          <a:xfrm xmlns:a="http://schemas.openxmlformats.org/drawingml/2006/main">
            <a:off x="6721200" y="3103200"/>
            <a:ext cx="2318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4E6B7E"/>
                </a:solidFill>
                <a:latin typeface="Microsoft YaHei"/>
                <a:ea typeface="Microsoft YaHei"/>
              </a:rPr>
              <a:t>业务事实层</a:t>
            </a:r>
          </a:p>
        </p:txBody>
      </p:sp>
      <p:sp>
        <p:nvSpPr>
          <p:cNvPr id="100367" name="LYS2"/>
          <p:cNvSpPr txBox="1"/>
          <p:nvPr/>
        </p:nvSpPr>
        <p:spPr>
          <a:xfrm xmlns:a="http://schemas.openxmlformats.org/drawingml/2006/main">
            <a:off x="6721200" y="3261600"/>
            <a:ext cx="2318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作答 · 判分 · 引用 · 分享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只增不改 · 修正走冲正</a:t>
            </a:r>
          </a:p>
        </p:txBody>
      </p:sp>
      <p:sp>
        <p:nvSpPr>
          <p:cNvPr id="100368" name="LY3"/>
          <p:cNvSpPr/>
          <p:nvPr/>
        </p:nvSpPr>
        <p:spPr>
          <a:xfrm xmlns:a="http://schemas.openxmlformats.org/drawingml/2006/main">
            <a:off x="9237600" y="3052800"/>
            <a:ext cx="24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9" name="LYD3"/>
          <p:cNvSpPr/>
          <p:nvPr/>
        </p:nvSpPr>
        <p:spPr>
          <a:xfrm xmlns:a="http://schemas.openxmlformats.org/drawingml/2006/main">
            <a:off x="9237600" y="3052800"/>
            <a:ext cx="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0" name="LYN3"/>
          <p:cNvSpPr txBox="1"/>
          <p:nvPr/>
        </p:nvSpPr>
        <p:spPr>
          <a:xfrm xmlns:a="http://schemas.openxmlformats.org/drawingml/2006/main">
            <a:off x="9331200" y="3103200"/>
            <a:ext cx="2318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4E6B7E"/>
                </a:solidFill>
                <a:latin typeface="Microsoft YaHei"/>
                <a:ea typeface="Microsoft YaHei"/>
              </a:rPr>
              <a:t>分析指标层</a:t>
            </a:r>
          </a:p>
        </p:txBody>
      </p:sp>
      <p:sp>
        <p:nvSpPr>
          <p:cNvPr id="100371" name="LYS3"/>
          <p:cNvSpPr txBox="1"/>
          <p:nvPr/>
        </p:nvSpPr>
        <p:spPr>
          <a:xfrm xmlns:a="http://schemas.openxmlformats.org/drawingml/2006/main">
            <a:off x="9331200" y="3261600"/>
            <a:ext cx="2318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掌握度 · 报告 · 教学建议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按周期重算 · 可回溯口径</a:t>
            </a:r>
          </a:p>
        </p:txBody>
      </p:sp>
      <p:sp>
        <p:nvSpPr>
          <p:cNvPr id="100372" name="LPBox"/>
          <p:cNvSpPr/>
          <p:nvPr/>
        </p:nvSpPr>
        <p:spPr>
          <a:xfrm xmlns:a="http://schemas.openxmlformats.org/drawingml/2006/main">
            <a:off x="468000" y="3729600"/>
            <a:ext cx="5346000" cy="222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4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3" name="LPT"/>
          <p:cNvSpPr txBox="1"/>
          <p:nvPr/>
        </p:nvSpPr>
        <p:spPr>
          <a:xfrm xmlns:a="http://schemas.openxmlformats.org/drawingml/2006/main">
            <a:off x="561600" y="3794400"/>
            <a:ext cx="5158800" cy="1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1B3A5C"/>
                </a:solidFill>
                <a:latin typeface="Microsoft YaHei"/>
                <a:ea typeface="Microsoft YaHei"/>
              </a:rPr>
              <a:t>闭环回路：学情不是终点，而是下一轮生产的输入</a:t>
            </a:r>
          </a:p>
        </p:txBody>
      </p:sp>
      <p:sp>
        <p:nvSpPr>
          <p:cNvPr id="100374" name="LPD"/>
          <p:cNvSpPr txBox="1"/>
          <p:nvPr/>
        </p:nvSpPr>
        <p:spPr>
          <a:xfrm xmlns:a="http://schemas.openxmlformats.org/drawingml/2006/main">
            <a:off x="561600" y="3967200"/>
            <a:ext cx="5158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报告里的薄弱点驱动错题归集与推荐组卷，新产出的资源重新回到采集段——这是「教—学—评—改」真正闭合的地方。</a:t>
            </a:r>
          </a:p>
        </p:txBody>
      </p:sp>
      <p:sp>
        <p:nvSpPr>
          <p:cNvPr id="100375" name="LC0"/>
          <p:cNvSpPr/>
          <p:nvPr/>
        </p:nvSpPr>
        <p:spPr>
          <a:xfrm xmlns:a="http://schemas.openxmlformats.org/drawingml/2006/main">
            <a:off x="561600" y="4370400"/>
            <a:ext cx="1159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6" name="LCN0"/>
          <p:cNvSpPr txBox="1"/>
          <p:nvPr/>
        </p:nvSpPr>
        <p:spPr>
          <a:xfrm xmlns:a="http://schemas.openxmlformats.org/drawingml/2006/main">
            <a:off x="583200" y="4370400"/>
            <a:ext cx="11160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学情报告</a:t>
            </a:r>
          </a:p>
        </p:txBody>
      </p:sp>
      <p:cxnSp>
        <p:nvCxnSpPr>
          <p:cNvPr id="100377" name="LCA0"/>
          <p:cNvCxnSpPr/>
          <p:nvPr/>
        </p:nvCxnSpPr>
        <p:spPr>
          <a:xfrm xmlns:a="http://schemas.openxmlformats.org/drawingml/2006/main">
            <a:off x="1742400" y="4611600"/>
            <a:ext cx="122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3A5C"/>
            </a:solidFill>
            <a:headEnd type="none"/>
            <a:tailEnd type="arrow"/>
          </a:ln>
        </p:spPr>
      </p:cxnSp>
      <p:sp>
        <p:nvSpPr>
          <p:cNvPr id="100378" name="LC1"/>
          <p:cNvSpPr/>
          <p:nvPr/>
        </p:nvSpPr>
        <p:spPr>
          <a:xfrm xmlns:a="http://schemas.openxmlformats.org/drawingml/2006/main">
            <a:off x="1893600" y="4370400"/>
            <a:ext cx="1159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9" name="LCN1"/>
          <p:cNvSpPr txBox="1"/>
          <p:nvPr/>
        </p:nvSpPr>
        <p:spPr>
          <a:xfrm xmlns:a="http://schemas.openxmlformats.org/drawingml/2006/main">
            <a:off x="1915200" y="4370400"/>
            <a:ext cx="11160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错题本 / 薄弱点</a:t>
            </a:r>
          </a:p>
        </p:txBody>
      </p:sp>
      <p:cxnSp>
        <p:nvCxnSpPr>
          <p:cNvPr id="100380" name="LCA1"/>
          <p:cNvCxnSpPr/>
          <p:nvPr/>
        </p:nvCxnSpPr>
        <p:spPr>
          <a:xfrm xmlns:a="http://schemas.openxmlformats.org/drawingml/2006/main">
            <a:off x="3074400" y="4611600"/>
            <a:ext cx="122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3A5C"/>
            </a:solidFill>
            <a:headEnd type="none"/>
            <a:tailEnd type="arrow"/>
          </a:ln>
        </p:spPr>
      </p:cxnSp>
      <p:sp>
        <p:nvSpPr>
          <p:cNvPr id="100381" name="LC2"/>
          <p:cNvSpPr/>
          <p:nvPr/>
        </p:nvSpPr>
        <p:spPr>
          <a:xfrm xmlns:a="http://schemas.openxmlformats.org/drawingml/2006/main">
            <a:off x="3225600" y="4370400"/>
            <a:ext cx="1159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82" name="LCN2"/>
          <p:cNvSpPr txBox="1"/>
          <p:nvPr/>
        </p:nvSpPr>
        <p:spPr>
          <a:xfrm xmlns:a="http://schemas.openxmlformats.org/drawingml/2006/main">
            <a:off x="3250800" y="4370400"/>
            <a:ext cx="11160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推荐组卷</a:t>
            </a:r>
          </a:p>
        </p:txBody>
      </p:sp>
      <p:cxnSp>
        <p:nvCxnSpPr>
          <p:cNvPr id="100383" name="LCA2"/>
          <p:cNvCxnSpPr/>
          <p:nvPr/>
        </p:nvCxnSpPr>
        <p:spPr>
          <a:xfrm xmlns:a="http://schemas.openxmlformats.org/drawingml/2006/main">
            <a:off x="4410000" y="4611600"/>
            <a:ext cx="122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3A5C"/>
            </a:solidFill>
            <a:headEnd type="none"/>
            <a:tailEnd type="arrow"/>
          </a:ln>
        </p:spPr>
      </p:cxnSp>
      <p:sp>
        <p:nvSpPr>
          <p:cNvPr id="100384" name="LC3"/>
          <p:cNvSpPr/>
          <p:nvPr/>
        </p:nvSpPr>
        <p:spPr>
          <a:xfrm xmlns:a="http://schemas.openxmlformats.org/drawingml/2006/main">
            <a:off x="4561200" y="4370400"/>
            <a:ext cx="1159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85" name="LCN3"/>
          <p:cNvSpPr txBox="1"/>
          <p:nvPr/>
        </p:nvSpPr>
        <p:spPr>
          <a:xfrm xmlns:a="http://schemas.openxmlformats.org/drawingml/2006/main">
            <a:off x="4582800" y="4370400"/>
            <a:ext cx="11160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新资源生产</a:t>
            </a:r>
          </a:p>
        </p:txBody>
      </p:sp>
      <p:cxnSp>
        <p:nvCxnSpPr>
          <p:cNvPr id="100386" name="LPBack"/>
          <p:cNvCxnSpPr/>
          <p:nvPr/>
        </p:nvCxnSpPr>
        <p:spPr>
          <a:xfrm xmlns:a="http://schemas.openxmlformats.org/drawingml/2006/main">
            <a:off x="576000" y="4932000"/>
            <a:ext cx="51300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8399"/>
            </a:solidFill>
            <a:prstDash val="dash"/>
            <a:headEnd type="arrow"/>
            <a:tailEnd type="none"/>
          </a:ln>
        </p:spPr>
      </p:cxnSp>
      <p:sp>
        <p:nvSpPr>
          <p:cNvPr id="100387" name="LPBackM"/>
          <p:cNvSpPr/>
          <p:nvPr/>
        </p:nvSpPr>
        <p:spPr>
          <a:xfrm xmlns:a="http://schemas.openxmlformats.org/drawingml/2006/main">
            <a:off x="2548800" y="4867200"/>
            <a:ext cx="1188000" cy="1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88" name="LPBackT"/>
          <p:cNvSpPr txBox="1"/>
          <p:nvPr/>
        </p:nvSpPr>
        <p:spPr>
          <a:xfrm xmlns:a="http://schemas.openxmlformats.org/drawingml/2006/main">
            <a:off x="2548800" y="4867200"/>
            <a:ext cx="11880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回到段 01 · 采集接入</a:t>
            </a:r>
          </a:p>
        </p:txBody>
      </p:sp>
      <p:sp>
        <p:nvSpPr>
          <p:cNvPr id="100389" name="LPF"/>
          <p:cNvSpPr txBox="1"/>
          <p:nvPr/>
        </p:nvSpPr>
        <p:spPr>
          <a:xfrm xmlns:a="http://schemas.openxmlformats.org/drawingml/2006/main">
            <a:off x="561600" y="5068800"/>
            <a:ext cx="51588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回路入口　段 06 产出的知识点掌握度与错题集</a:t>
            </a:r>
          </a:p>
          <a:p xmlns:a="http://schemas.openxmlformats.org/drawingml/2006/main">
            <a:pPr algn="l">
              <a:lnSpc>
                <a:spcPct val="155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回路出口　段 02 新资源进入结构化，段 04 入库后可被再次引用</a:t>
            </a:r>
          </a:p>
          <a:p xmlns:a="http://schemas.openxmlformats.org/drawingml/2006/main">
            <a:pPr algn="l">
              <a:lnSpc>
                <a:spcPct val="155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断点风险　作答数据缺失则掌握度失真，推荐组卷退化为随机选题</a:t>
            </a:r>
          </a:p>
        </p:txBody>
      </p:sp>
      <p:sp>
        <p:nvSpPr>
          <p:cNvPr id="100390" name="CNBox"/>
          <p:cNvSpPr/>
          <p:nvPr/>
        </p:nvSpPr>
        <p:spPr>
          <a:xfrm xmlns:a="http://schemas.openxmlformats.org/drawingml/2006/main">
            <a:off x="6012000" y="3729600"/>
            <a:ext cx="5713200" cy="222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4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91" name="CNT"/>
          <p:cNvSpPr txBox="1"/>
          <p:nvPr/>
        </p:nvSpPr>
        <p:spPr>
          <a:xfrm xmlns:a="http://schemas.openxmlformats.org/drawingml/2006/main">
            <a:off x="6105600" y="3794400"/>
            <a:ext cx="5526000" cy="1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C2762D"/>
                </a:solidFill>
                <a:latin typeface="Microsoft YaHei"/>
                <a:ea typeface="Microsoft YaHei"/>
              </a:rPr>
              <a:t>四条硬约束</a:t>
            </a:r>
          </a:p>
        </p:txBody>
      </p:sp>
      <p:sp>
        <p:nvSpPr>
          <p:cNvPr id="100392" name="CN0"/>
          <p:cNvSpPr/>
          <p:nvPr/>
        </p:nvSpPr>
        <p:spPr>
          <a:xfrm xmlns:a="http://schemas.openxmlformats.org/drawingml/2006/main">
            <a:off x="6105600" y="3981600"/>
            <a:ext cx="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93" name="CNN0"/>
          <p:cNvSpPr txBox="1"/>
          <p:nvPr/>
        </p:nvSpPr>
        <p:spPr>
          <a:xfrm xmlns:a="http://schemas.openxmlformats.org/drawingml/2006/main">
            <a:off x="6192000" y="4003200"/>
            <a:ext cx="543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归属即权限</a:t>
            </a:r>
          </a:p>
        </p:txBody>
      </p:sp>
      <p:sp>
        <p:nvSpPr>
          <p:cNvPr id="100394" name="CNS0"/>
          <p:cNvSpPr txBox="1"/>
          <p:nvPr/>
        </p:nvSpPr>
        <p:spPr>
          <a:xfrm xmlns:a="http://schemas.openxmlformats.org/drawingml/2006/main">
            <a:off x="6192000" y="4168800"/>
            <a:ext cx="54324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scope 决定可见性，跨归属请求一律 403，不做兜底</a:t>
            </a:r>
          </a:p>
        </p:txBody>
      </p:sp>
      <p:sp>
        <p:nvSpPr>
          <p:cNvPr id="100395" name="CN1"/>
          <p:cNvSpPr/>
          <p:nvPr/>
        </p:nvSpPr>
        <p:spPr>
          <a:xfrm xmlns:a="http://schemas.openxmlformats.org/drawingml/2006/main">
            <a:off x="6105600" y="4471200"/>
            <a:ext cx="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96" name="CNN1"/>
          <p:cNvSpPr txBox="1"/>
          <p:nvPr/>
        </p:nvSpPr>
        <p:spPr>
          <a:xfrm xmlns:a="http://schemas.openxmlformats.org/drawingml/2006/main">
            <a:off x="6192000" y="4492800"/>
            <a:ext cx="543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引用留痕</a:t>
            </a:r>
          </a:p>
        </p:txBody>
      </p:sp>
      <p:sp>
        <p:nvSpPr>
          <p:cNvPr id="100397" name="CNS1"/>
          <p:cNvSpPr txBox="1"/>
          <p:nvPr/>
        </p:nvSpPr>
        <p:spPr>
          <a:xfrm xmlns:a="http://schemas.openxmlformats.org/drawingml/2006/main">
            <a:off x="6192000" y="4658400"/>
            <a:ext cx="54324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被作业 / 考试引用的资源只能下架，不可物理删除</a:t>
            </a:r>
          </a:p>
        </p:txBody>
      </p:sp>
      <p:sp>
        <p:nvSpPr>
          <p:cNvPr id="100398" name="CN2"/>
          <p:cNvSpPr/>
          <p:nvPr/>
        </p:nvSpPr>
        <p:spPr>
          <a:xfrm xmlns:a="http://schemas.openxmlformats.org/drawingml/2006/main">
            <a:off x="6105600" y="4960800"/>
            <a:ext cx="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99" name="CNN2"/>
          <p:cNvSpPr txBox="1"/>
          <p:nvPr/>
        </p:nvSpPr>
        <p:spPr>
          <a:xfrm xmlns:a="http://schemas.openxmlformats.org/drawingml/2006/main">
            <a:off x="6192000" y="4982400"/>
            <a:ext cx="543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回流只增</a:t>
            </a:r>
          </a:p>
        </p:txBody>
      </p:sp>
      <p:sp>
        <p:nvSpPr>
          <p:cNvPr id="100400" name="CNS2"/>
          <p:cNvSpPr txBox="1"/>
          <p:nvPr/>
        </p:nvSpPr>
        <p:spPr>
          <a:xfrm xmlns:a="http://schemas.openxmlformats.org/drawingml/2006/main">
            <a:off x="6192000" y="5148000"/>
            <a:ext cx="54324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作答与判分事实不可改，修正走冲正记录</a:t>
            </a:r>
          </a:p>
        </p:txBody>
      </p:sp>
      <p:sp>
        <p:nvSpPr>
          <p:cNvPr id="100401" name="CN3"/>
          <p:cNvSpPr/>
          <p:nvPr/>
        </p:nvSpPr>
        <p:spPr>
          <a:xfrm xmlns:a="http://schemas.openxmlformats.org/drawingml/2006/main">
            <a:off x="6105600" y="5450400"/>
            <a:ext cx="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02" name="CNN3"/>
          <p:cNvSpPr txBox="1"/>
          <p:nvPr/>
        </p:nvSpPr>
        <p:spPr>
          <a:xfrm xmlns:a="http://schemas.openxmlformats.org/drawingml/2006/main">
            <a:off x="6192000" y="5472000"/>
            <a:ext cx="543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出域受控</a:t>
            </a:r>
          </a:p>
        </p:txBody>
      </p:sp>
      <p:sp>
        <p:nvSpPr>
          <p:cNvPr id="100403" name="CNS3"/>
          <p:cNvSpPr txBox="1"/>
          <p:nvPr/>
        </p:nvSpPr>
        <p:spPr>
          <a:xfrm xmlns:a="http://schemas.openxmlformats.org/drawingml/2006/main">
            <a:off x="6192000" y="5637600"/>
            <a:ext cx="54324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学情推送家长须监护人授权，只给区间不给排名</a:t>
            </a:r>
          </a:p>
        </p:txBody>
      </p:sp>
      <p:sp>
        <p:nvSpPr>
          <p:cNvPr id="100404" name="F3"/>
          <p:cNvSpPr txBox="1"/>
          <p:nvPr/>
        </p:nvSpPr>
        <p:spPr>
          <a:xfrm xmlns:a="http://schemas.openxmlformats.org/drawingml/2006/main">
            <a:off x="468000" y="6328800"/>
            <a:ext cx="792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教学云AI 平台　产品架构图</a:t>
            </a:r>
          </a:p>
        </p:txBody>
      </p:sp>
      <p:sp>
        <p:nvSpPr>
          <p:cNvPr id="100405" name="P3"/>
          <p:cNvSpPr txBox="1"/>
          <p:nvPr/>
        </p:nvSpPr>
        <p:spPr>
          <a:xfrm xmlns:a="http://schemas.openxmlformats.org/drawingml/2006/main">
            <a:off x="9565200" y="6328800"/>
            <a:ext cx="216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等线"/>
        <a:cs typeface=""/>
      </a:majorFont>
      <a:minorFont>
        <a:latin typeface="Microsoft YaHe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产品经理 司南</dc:creator>
  <dcterms:created xsi:type="dcterms:W3CDTF">2026-10-20T10:31:48.0000000Z</dcterms:created>
  <lastModifiedBy>OfficeCLI</lastModifiedBy>
  <dcterms:modified xsi:type="dcterms:W3CDTF">2026-10-20T10:31:49.8095170Z</dcterms:modified>
  <dc:title>教学云AI 平台 产品架构图</dc:title>
  <dc:description>产品架构、集成架构与资源数据流，依据《详细需求说明书》V1.2</dc:description>
  <keywords>产品架构,集成架构,数据流,功能矩阵</keywords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2026-10-20T10:32:08Z</vt:lpwstr>
  </op:property>
</op:Properties>
</file>